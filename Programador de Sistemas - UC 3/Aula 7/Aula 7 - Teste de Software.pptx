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71" r:id="rId1"/>
  </p:sldMasterIdLst>
  <p:notesMasterIdLst>
    <p:notesMasterId r:id="rId35"/>
  </p:notesMasterIdLst>
  <p:handoutMasterIdLst>
    <p:handoutMasterId r:id="rId36"/>
  </p:handoutMasterIdLst>
  <p:sldIdLst>
    <p:sldId id="311" r:id="rId2"/>
    <p:sldId id="329" r:id="rId3"/>
    <p:sldId id="314" r:id="rId4"/>
    <p:sldId id="369" r:id="rId5"/>
    <p:sldId id="370" r:id="rId6"/>
    <p:sldId id="372" r:id="rId7"/>
    <p:sldId id="373" r:id="rId8"/>
    <p:sldId id="375" r:id="rId9"/>
    <p:sldId id="376" r:id="rId10"/>
    <p:sldId id="377" r:id="rId11"/>
    <p:sldId id="380" r:id="rId12"/>
    <p:sldId id="381" r:id="rId13"/>
    <p:sldId id="382" r:id="rId14"/>
    <p:sldId id="383" r:id="rId15"/>
    <p:sldId id="384" r:id="rId16"/>
    <p:sldId id="388" r:id="rId17"/>
    <p:sldId id="387" r:id="rId18"/>
    <p:sldId id="389" r:id="rId19"/>
    <p:sldId id="386" r:id="rId20"/>
    <p:sldId id="390" r:id="rId21"/>
    <p:sldId id="391" r:id="rId22"/>
    <p:sldId id="392" r:id="rId23"/>
    <p:sldId id="393" r:id="rId24"/>
    <p:sldId id="394" r:id="rId25"/>
    <p:sldId id="395" r:id="rId26"/>
    <p:sldId id="396" r:id="rId27"/>
    <p:sldId id="397" r:id="rId28"/>
    <p:sldId id="398" r:id="rId29"/>
    <p:sldId id="399" r:id="rId30"/>
    <p:sldId id="400" r:id="rId31"/>
    <p:sldId id="325" r:id="rId32"/>
    <p:sldId id="368" r:id="rId33"/>
    <p:sldId id="385" r:id="rId34"/>
  </p:sldIdLst>
  <p:sldSz cx="9144000" cy="5143500" type="screen16x9"/>
  <p:notesSz cx="6858000" cy="9144000"/>
  <p:embeddedFontLst>
    <p:embeddedFont>
      <p:font typeface="Montserrat" panose="00000500000000000000" pitchFamily="2" charset="0"/>
      <p:regular r:id="rId37"/>
      <p:bold r:id="rId38"/>
      <p:italic r:id="rId39"/>
      <p:boldItalic r:id="rId40"/>
    </p:embeddedFont>
    <p:embeddedFont>
      <p:font typeface="Montserrat ExtraBold" panose="00000900000000000000" pitchFamily="2" charset="0"/>
      <p:bold r:id="rId41"/>
      <p:boldItalic r:id="rId42"/>
    </p:embeddedFont>
    <p:embeddedFont>
      <p:font typeface="Roboto" panose="02000000000000000000" pitchFamily="2" charset="0"/>
      <p:regular r:id="rId43"/>
      <p:bold r:id="rId44"/>
      <p:italic r:id="rId45"/>
      <p:boldItalic r:id="rId46"/>
    </p:embeddedFont>
    <p:embeddedFont>
      <p:font typeface="Source Serif Pro" panose="02040603050405020204" pitchFamily="18" charset="0"/>
      <p:regular r:id="rId47"/>
      <p:bold r:id="rId48"/>
      <p:italic r:id="rId49"/>
      <p:boldItalic r:id="rId50"/>
    </p:embeddedFont>
    <p:embeddedFont>
      <p:font typeface="Spectral Light" panose="020B0604020202020204" charset="0"/>
      <p:regular r:id="rId51"/>
      <p:bold r:id="rId52"/>
      <p:italic r:id="rId53"/>
      <p:bold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37">
          <p15:clr>
            <a:srgbClr val="A4A3A4"/>
          </p15:clr>
        </p15:guide>
        <p15:guide id="2" pos="5558">
          <p15:clr>
            <a:srgbClr val="A4A3A4"/>
          </p15:clr>
        </p15:guide>
        <p15:guide id="3" pos="1304">
          <p15:clr>
            <a:srgbClr val="A4A3A4"/>
          </p15:clr>
        </p15:guide>
        <p15:guide id="4" orient="horz" pos="1620">
          <p15:clr>
            <a:srgbClr val="A4A3A4"/>
          </p15:clr>
        </p15:guide>
        <p15:guide id="5" orient="horz" pos="2623">
          <p15:clr>
            <a:srgbClr val="A4A3A4"/>
          </p15:clr>
        </p15:guide>
        <p15:guide id="6" pos="4320">
          <p15:clr>
            <a:srgbClr val="A4A3A4"/>
          </p15:clr>
        </p15:guide>
        <p15:guide id="7" pos="3118">
          <p15:clr>
            <a:srgbClr val="A4A3A4"/>
          </p15:clr>
        </p15:guide>
        <p15:guide id="8" pos="2976">
          <p15:clr>
            <a:srgbClr val="A4A3A4"/>
          </p15:clr>
        </p15:guide>
        <p15:guide id="9" orient="horz" pos="590">
          <p15:clr>
            <a:srgbClr val="A4A3A4"/>
          </p15:clr>
        </p15:guide>
        <p15:guide id="10" pos="2268">
          <p15:clr>
            <a:srgbClr val="A4A3A4"/>
          </p15:clr>
        </p15:guide>
        <p15:guide id="11" pos="3902">
          <p15:clr>
            <a:srgbClr val="A4A3A4"/>
          </p15:clr>
        </p15:guide>
        <p15:guide id="12" orient="horz" pos="1058">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4584"/>
    <a:srgbClr val="90CCFA"/>
    <a:srgbClr val="3940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F1A0088-3FF0-4591-AE8C-B39587EE2FD8}">
  <a:tblStyle styleId="{FF1A0088-3FF0-4591-AE8C-B39587EE2FD8}"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86"/>
    <p:restoredTop sz="94653"/>
  </p:normalViewPr>
  <p:slideViewPr>
    <p:cSldViewPr snapToGrid="0">
      <p:cViewPr varScale="1">
        <p:scale>
          <a:sx n="143" d="100"/>
          <a:sy n="143" d="100"/>
        </p:scale>
        <p:origin x="684" y="114"/>
      </p:cViewPr>
      <p:guideLst>
        <p:guide orient="horz" pos="337"/>
        <p:guide pos="5558"/>
        <p:guide pos="1304"/>
        <p:guide orient="horz" pos="1620"/>
        <p:guide orient="horz" pos="2623"/>
        <p:guide pos="4320"/>
        <p:guide pos="3118"/>
        <p:guide pos="2976"/>
        <p:guide orient="horz" pos="590"/>
        <p:guide pos="2268"/>
        <p:guide pos="3902"/>
        <p:guide orient="horz" pos="1058"/>
      </p:guideLst>
    </p:cSldViewPr>
  </p:slideViewPr>
  <p:notesTextViewPr>
    <p:cViewPr>
      <p:scale>
        <a:sx n="1" d="1"/>
        <a:sy n="1" d="1"/>
      </p:scale>
      <p:origin x="0" y="0"/>
    </p:cViewPr>
  </p:notesTextViewPr>
  <p:notesViewPr>
    <p:cSldViewPr snapToGrid="0">
      <p:cViewPr varScale="1">
        <p:scale>
          <a:sx n="121" d="100"/>
          <a:sy n="121" d="100"/>
        </p:scale>
        <p:origin x="4000" y="1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font" Target="fonts/font17.fntdata"/><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1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54"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49" Type="http://schemas.openxmlformats.org/officeDocument/2006/relationships/font" Target="fonts/font13.fntdata"/><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font" Target="fonts/font16.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25B654EE-46E2-0F4F-A427-90D64B9EDE8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903F607F-B941-504A-93E2-B236C592C73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8DAE9AD-0277-1C48-A4A6-9639BCA59213}" type="datetimeFigureOut">
              <a:rPr lang="pt-BR" smtClean="0"/>
              <a:t>20/03/2023</a:t>
            </a:fld>
            <a:endParaRPr lang="pt-BR"/>
          </a:p>
        </p:txBody>
      </p:sp>
      <p:sp>
        <p:nvSpPr>
          <p:cNvPr id="4" name="Espaço Reservado para Rodapé 3">
            <a:extLst>
              <a:ext uri="{FF2B5EF4-FFF2-40B4-BE49-F238E27FC236}">
                <a16:creationId xmlns:a16="http://schemas.microsoft.com/office/drawing/2014/main" id="{BECF70CC-E53D-CB46-9D20-16363D6546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18247280-1666-A146-9E9E-6861B1758A3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BB7252A-A6E1-544A-A976-86DDA006660C}" type="slidenum">
              <a:rPr lang="pt-BR" smtClean="0"/>
              <a:t>‹nº›</a:t>
            </a:fld>
            <a:endParaRPr lang="pt-BR"/>
          </a:p>
        </p:txBody>
      </p:sp>
    </p:spTree>
    <p:extLst>
      <p:ext uri="{BB962C8B-B14F-4D97-AF65-F5344CB8AC3E}">
        <p14:creationId xmlns:p14="http://schemas.microsoft.com/office/powerpoint/2010/main" val="20078129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82401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1086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0034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81631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43466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52225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5839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35707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37703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97704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81906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94624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39013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882821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21936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02323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79484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14527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65512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54340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386932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96065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80217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9156680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427135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23850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74008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93443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82056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de7457949_0_2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de7457949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699366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g3de7457949_0_7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1" name="Google Shape;641;g3de7457949_0_7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034643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g3de7457949_0_7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1" name="Google Shape;641;g3de7457949_0_7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688853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g3de7457949_0_7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1" name="Google Shape;641;g3de7457949_0_7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39963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1516500" y="1001050"/>
            <a:ext cx="6809100" cy="3141600"/>
          </a:xfrm>
          <a:prstGeom prst="rect">
            <a:avLst/>
          </a:prstGeom>
        </p:spPr>
        <p:txBody>
          <a:bodyPr spcFirstLastPara="1" wrap="square" lIns="91425" tIns="91425" rIns="91425" bIns="91425" anchor="ctr" anchorCtr="0">
            <a:noAutofit/>
          </a:bodyPr>
          <a:lstStyle>
            <a:lvl1pPr lvl="0" rtl="0">
              <a:spcBef>
                <a:spcPts val="0"/>
              </a:spcBef>
              <a:spcAft>
                <a:spcPts val="0"/>
              </a:spcAft>
              <a:buClr>
                <a:srgbClr val="252525"/>
              </a:buClr>
              <a:buSzPts val="4600"/>
              <a:buNone/>
              <a:defRPr sz="4600">
                <a:solidFill>
                  <a:srgbClr val="252525"/>
                </a:solidFill>
              </a:defRPr>
            </a:lvl1pPr>
            <a:lvl2pPr lvl="1" algn="ctr" rtl="0">
              <a:spcBef>
                <a:spcPts val="0"/>
              </a:spcBef>
              <a:spcAft>
                <a:spcPts val="0"/>
              </a:spcAft>
              <a:buClr>
                <a:srgbClr val="434343"/>
              </a:buClr>
              <a:buSzPts val="4800"/>
              <a:buNone/>
              <a:defRPr sz="4800">
                <a:solidFill>
                  <a:srgbClr val="434343"/>
                </a:solidFill>
              </a:defRPr>
            </a:lvl2pPr>
            <a:lvl3pPr lvl="2" algn="ctr" rtl="0">
              <a:spcBef>
                <a:spcPts val="0"/>
              </a:spcBef>
              <a:spcAft>
                <a:spcPts val="0"/>
              </a:spcAft>
              <a:buClr>
                <a:srgbClr val="434343"/>
              </a:buClr>
              <a:buSzPts val="4800"/>
              <a:buNone/>
              <a:defRPr sz="4800">
                <a:solidFill>
                  <a:srgbClr val="434343"/>
                </a:solidFill>
              </a:defRPr>
            </a:lvl3pPr>
            <a:lvl4pPr lvl="3" algn="ctr" rtl="0">
              <a:spcBef>
                <a:spcPts val="0"/>
              </a:spcBef>
              <a:spcAft>
                <a:spcPts val="0"/>
              </a:spcAft>
              <a:buClr>
                <a:srgbClr val="434343"/>
              </a:buClr>
              <a:buSzPts val="4800"/>
              <a:buNone/>
              <a:defRPr sz="4800">
                <a:solidFill>
                  <a:srgbClr val="434343"/>
                </a:solidFill>
              </a:defRPr>
            </a:lvl4pPr>
            <a:lvl5pPr lvl="4" algn="ctr" rtl="0">
              <a:spcBef>
                <a:spcPts val="0"/>
              </a:spcBef>
              <a:spcAft>
                <a:spcPts val="0"/>
              </a:spcAft>
              <a:buClr>
                <a:srgbClr val="434343"/>
              </a:buClr>
              <a:buSzPts val="4800"/>
              <a:buNone/>
              <a:defRPr sz="4800">
                <a:solidFill>
                  <a:srgbClr val="434343"/>
                </a:solidFill>
              </a:defRPr>
            </a:lvl5pPr>
            <a:lvl6pPr lvl="5" algn="ctr" rtl="0">
              <a:spcBef>
                <a:spcPts val="0"/>
              </a:spcBef>
              <a:spcAft>
                <a:spcPts val="0"/>
              </a:spcAft>
              <a:buClr>
                <a:srgbClr val="434343"/>
              </a:buClr>
              <a:buSzPts val="4800"/>
              <a:buNone/>
              <a:defRPr sz="4800">
                <a:solidFill>
                  <a:srgbClr val="434343"/>
                </a:solidFill>
              </a:defRPr>
            </a:lvl6pPr>
            <a:lvl7pPr lvl="6" algn="ctr" rtl="0">
              <a:spcBef>
                <a:spcPts val="0"/>
              </a:spcBef>
              <a:spcAft>
                <a:spcPts val="0"/>
              </a:spcAft>
              <a:buClr>
                <a:srgbClr val="434343"/>
              </a:buClr>
              <a:buSzPts val="4800"/>
              <a:buNone/>
              <a:defRPr sz="4800">
                <a:solidFill>
                  <a:srgbClr val="434343"/>
                </a:solidFill>
              </a:defRPr>
            </a:lvl7pPr>
            <a:lvl8pPr lvl="7" algn="ctr" rtl="0">
              <a:spcBef>
                <a:spcPts val="0"/>
              </a:spcBef>
              <a:spcAft>
                <a:spcPts val="0"/>
              </a:spcAft>
              <a:buClr>
                <a:srgbClr val="434343"/>
              </a:buClr>
              <a:buSzPts val="4800"/>
              <a:buNone/>
              <a:defRPr sz="4800">
                <a:solidFill>
                  <a:srgbClr val="434343"/>
                </a:solidFill>
              </a:defRPr>
            </a:lvl8pPr>
            <a:lvl9pPr lvl="8" algn="ctr" rtl="0">
              <a:spcBef>
                <a:spcPts val="0"/>
              </a:spcBef>
              <a:spcAft>
                <a:spcPts val="0"/>
              </a:spcAft>
              <a:buClr>
                <a:srgbClr val="434343"/>
              </a:buClr>
              <a:buSzPts val="4800"/>
              <a:buNone/>
              <a:defRPr sz="4800">
                <a:solidFill>
                  <a:srgbClr val="434343"/>
                </a:solidFill>
              </a:defRPr>
            </a:lvl9pPr>
          </a:lstStyle>
          <a:p>
            <a:endParaRPr/>
          </a:p>
        </p:txBody>
      </p:sp>
      <p:sp>
        <p:nvSpPr>
          <p:cNvPr id="11" name="Google Shape;11;p2"/>
          <p:cNvSpPr/>
          <p:nvPr/>
        </p:nvSpPr>
        <p:spPr>
          <a:xfrm rot="-5400000">
            <a:off x="-1173125" y="2799675"/>
            <a:ext cx="4615200" cy="92400"/>
          </a:xfrm>
          <a:prstGeom prst="rect">
            <a:avLst/>
          </a:prstGeom>
          <a:solidFill>
            <a:srgbClr val="1745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subTitle" idx="1"/>
          </p:nvPr>
        </p:nvSpPr>
        <p:spPr>
          <a:xfrm rot="-5400000">
            <a:off x="-1772935" y="1844264"/>
            <a:ext cx="4950600" cy="578100"/>
          </a:xfrm>
          <a:prstGeom prst="rect">
            <a:avLst/>
          </a:prstGeom>
        </p:spPr>
        <p:txBody>
          <a:bodyPr spcFirstLastPara="1" wrap="square" lIns="91425" tIns="91425" rIns="91425" bIns="91425" anchor="b" anchorCtr="0">
            <a:noAutofit/>
          </a:bodyPr>
          <a:lstStyle>
            <a:lvl1pPr lvl="0" rtl="0">
              <a:spcBef>
                <a:spcPts val="0"/>
              </a:spcBef>
              <a:spcAft>
                <a:spcPts val="0"/>
              </a:spcAft>
              <a:buNone/>
              <a:defRPr sz="1200">
                <a:solidFill>
                  <a:srgbClr val="666666"/>
                </a:solidFill>
                <a:latin typeface="Spectral Light"/>
                <a:ea typeface="Spectral Light"/>
                <a:cs typeface="Spectral Light"/>
                <a:sym typeface="Spectral Light"/>
              </a:defRPr>
            </a:lvl1pPr>
            <a:lvl2pPr lvl="1" rtl="0">
              <a:spcBef>
                <a:spcPts val="0"/>
              </a:spcBef>
              <a:spcAft>
                <a:spcPts val="0"/>
              </a:spcAft>
              <a:buNone/>
              <a:defRPr sz="1200">
                <a:solidFill>
                  <a:srgbClr val="666666"/>
                </a:solidFill>
                <a:latin typeface="Spectral Light"/>
                <a:ea typeface="Spectral Light"/>
                <a:cs typeface="Spectral Light"/>
                <a:sym typeface="Spectral Light"/>
              </a:defRPr>
            </a:lvl2pPr>
            <a:lvl3pPr lvl="2" rtl="0">
              <a:spcBef>
                <a:spcPts val="0"/>
              </a:spcBef>
              <a:spcAft>
                <a:spcPts val="0"/>
              </a:spcAft>
              <a:buNone/>
              <a:defRPr sz="1200">
                <a:solidFill>
                  <a:srgbClr val="666666"/>
                </a:solidFill>
                <a:latin typeface="Spectral Light"/>
                <a:ea typeface="Spectral Light"/>
                <a:cs typeface="Spectral Light"/>
                <a:sym typeface="Spectral Light"/>
              </a:defRPr>
            </a:lvl3pPr>
            <a:lvl4pPr lvl="3" rtl="0">
              <a:spcBef>
                <a:spcPts val="0"/>
              </a:spcBef>
              <a:spcAft>
                <a:spcPts val="0"/>
              </a:spcAft>
              <a:buNone/>
              <a:defRPr sz="1200">
                <a:solidFill>
                  <a:srgbClr val="666666"/>
                </a:solidFill>
                <a:latin typeface="Spectral Light"/>
                <a:ea typeface="Spectral Light"/>
                <a:cs typeface="Spectral Light"/>
                <a:sym typeface="Spectral Light"/>
              </a:defRPr>
            </a:lvl4pPr>
            <a:lvl5pPr lvl="4" rtl="0">
              <a:spcBef>
                <a:spcPts val="0"/>
              </a:spcBef>
              <a:spcAft>
                <a:spcPts val="0"/>
              </a:spcAft>
              <a:buNone/>
              <a:defRPr sz="1200">
                <a:solidFill>
                  <a:srgbClr val="666666"/>
                </a:solidFill>
                <a:latin typeface="Spectral Light"/>
                <a:ea typeface="Spectral Light"/>
                <a:cs typeface="Spectral Light"/>
                <a:sym typeface="Spectral Light"/>
              </a:defRPr>
            </a:lvl5pPr>
            <a:lvl6pPr lvl="5" rtl="0">
              <a:spcBef>
                <a:spcPts val="0"/>
              </a:spcBef>
              <a:spcAft>
                <a:spcPts val="0"/>
              </a:spcAft>
              <a:buNone/>
              <a:defRPr sz="1200">
                <a:solidFill>
                  <a:srgbClr val="666666"/>
                </a:solidFill>
                <a:latin typeface="Spectral Light"/>
                <a:ea typeface="Spectral Light"/>
                <a:cs typeface="Spectral Light"/>
                <a:sym typeface="Spectral Light"/>
              </a:defRPr>
            </a:lvl6pPr>
            <a:lvl7pPr lvl="6" rtl="0">
              <a:spcBef>
                <a:spcPts val="0"/>
              </a:spcBef>
              <a:spcAft>
                <a:spcPts val="0"/>
              </a:spcAft>
              <a:buNone/>
              <a:defRPr sz="1200">
                <a:solidFill>
                  <a:srgbClr val="666666"/>
                </a:solidFill>
                <a:latin typeface="Spectral Light"/>
                <a:ea typeface="Spectral Light"/>
                <a:cs typeface="Spectral Light"/>
                <a:sym typeface="Spectral Light"/>
              </a:defRPr>
            </a:lvl7pPr>
            <a:lvl8pPr lvl="7" rtl="0">
              <a:spcBef>
                <a:spcPts val="0"/>
              </a:spcBef>
              <a:spcAft>
                <a:spcPts val="0"/>
              </a:spcAft>
              <a:buNone/>
              <a:defRPr sz="1200">
                <a:solidFill>
                  <a:srgbClr val="666666"/>
                </a:solidFill>
                <a:latin typeface="Spectral Light"/>
                <a:ea typeface="Spectral Light"/>
                <a:cs typeface="Spectral Light"/>
                <a:sym typeface="Spectral Light"/>
              </a:defRPr>
            </a:lvl8pPr>
            <a:lvl9pPr lvl="8" rtl="0">
              <a:spcBef>
                <a:spcPts val="0"/>
              </a:spcBef>
              <a:spcAft>
                <a:spcPts val="0"/>
              </a:spcAft>
              <a:buNone/>
              <a:defRPr sz="1200">
                <a:solidFill>
                  <a:srgbClr val="666666"/>
                </a:solidFill>
                <a:latin typeface="Spectral Light"/>
                <a:ea typeface="Spectral Light"/>
                <a:cs typeface="Spectral Light"/>
                <a:sym typeface="Spectral Ligh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IG Title &amp; subtitle slide" type="secHead">
  <p:cSld name="SECTION_HEADER">
    <p:bg>
      <p:bgPr>
        <a:noFill/>
        <a:effectLst/>
      </p:bgPr>
    </p:bg>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1477425" y="2095075"/>
            <a:ext cx="3942300" cy="1585200"/>
          </a:xfrm>
          <a:prstGeom prst="rect">
            <a:avLst/>
          </a:prstGeom>
        </p:spPr>
        <p:txBody>
          <a:bodyPr spcFirstLastPara="1" wrap="square" lIns="91425" tIns="91425" rIns="91425" bIns="91425" anchor="b" anchorCtr="0">
            <a:noAutofit/>
          </a:bodyPr>
          <a:lstStyle>
            <a:lvl1pPr lvl="0">
              <a:spcBef>
                <a:spcPts val="0"/>
              </a:spcBef>
              <a:spcAft>
                <a:spcPts val="0"/>
              </a:spcAft>
              <a:buClr>
                <a:srgbClr val="373334"/>
              </a:buClr>
              <a:buSzPts val="3300"/>
              <a:buNone/>
              <a:defRPr sz="3300">
                <a:solidFill>
                  <a:srgbClr val="373334"/>
                </a:solidFill>
              </a:defRPr>
            </a:lvl1pPr>
            <a:lvl2pPr lvl="1">
              <a:spcBef>
                <a:spcPts val="0"/>
              </a:spcBef>
              <a:spcAft>
                <a:spcPts val="0"/>
              </a:spcAft>
              <a:buClr>
                <a:srgbClr val="373334"/>
              </a:buClr>
              <a:buSzPts val="3300"/>
              <a:buNone/>
              <a:defRPr sz="3300">
                <a:solidFill>
                  <a:srgbClr val="373334"/>
                </a:solidFill>
              </a:defRPr>
            </a:lvl2pPr>
            <a:lvl3pPr lvl="2">
              <a:spcBef>
                <a:spcPts val="0"/>
              </a:spcBef>
              <a:spcAft>
                <a:spcPts val="0"/>
              </a:spcAft>
              <a:buClr>
                <a:srgbClr val="373334"/>
              </a:buClr>
              <a:buSzPts val="3300"/>
              <a:buNone/>
              <a:defRPr sz="3300">
                <a:solidFill>
                  <a:srgbClr val="373334"/>
                </a:solidFill>
              </a:defRPr>
            </a:lvl3pPr>
            <a:lvl4pPr lvl="3">
              <a:spcBef>
                <a:spcPts val="0"/>
              </a:spcBef>
              <a:spcAft>
                <a:spcPts val="0"/>
              </a:spcAft>
              <a:buClr>
                <a:srgbClr val="373334"/>
              </a:buClr>
              <a:buSzPts val="3300"/>
              <a:buNone/>
              <a:defRPr sz="3300">
                <a:solidFill>
                  <a:srgbClr val="373334"/>
                </a:solidFill>
              </a:defRPr>
            </a:lvl4pPr>
            <a:lvl5pPr lvl="4">
              <a:spcBef>
                <a:spcPts val="0"/>
              </a:spcBef>
              <a:spcAft>
                <a:spcPts val="0"/>
              </a:spcAft>
              <a:buClr>
                <a:srgbClr val="373334"/>
              </a:buClr>
              <a:buSzPts val="3300"/>
              <a:buNone/>
              <a:defRPr sz="3300">
                <a:solidFill>
                  <a:srgbClr val="373334"/>
                </a:solidFill>
              </a:defRPr>
            </a:lvl5pPr>
            <a:lvl6pPr lvl="5">
              <a:spcBef>
                <a:spcPts val="0"/>
              </a:spcBef>
              <a:spcAft>
                <a:spcPts val="0"/>
              </a:spcAft>
              <a:buClr>
                <a:srgbClr val="373334"/>
              </a:buClr>
              <a:buSzPts val="3300"/>
              <a:buNone/>
              <a:defRPr sz="3300">
                <a:solidFill>
                  <a:srgbClr val="373334"/>
                </a:solidFill>
              </a:defRPr>
            </a:lvl6pPr>
            <a:lvl7pPr lvl="6">
              <a:spcBef>
                <a:spcPts val="0"/>
              </a:spcBef>
              <a:spcAft>
                <a:spcPts val="0"/>
              </a:spcAft>
              <a:buClr>
                <a:srgbClr val="373334"/>
              </a:buClr>
              <a:buSzPts val="3300"/>
              <a:buNone/>
              <a:defRPr sz="3300">
                <a:solidFill>
                  <a:srgbClr val="373334"/>
                </a:solidFill>
              </a:defRPr>
            </a:lvl7pPr>
            <a:lvl8pPr lvl="7">
              <a:spcBef>
                <a:spcPts val="0"/>
              </a:spcBef>
              <a:spcAft>
                <a:spcPts val="0"/>
              </a:spcAft>
              <a:buClr>
                <a:srgbClr val="373334"/>
              </a:buClr>
              <a:buSzPts val="3300"/>
              <a:buNone/>
              <a:defRPr sz="3300">
                <a:solidFill>
                  <a:srgbClr val="373334"/>
                </a:solidFill>
              </a:defRPr>
            </a:lvl8pPr>
            <a:lvl9pPr lvl="8">
              <a:spcBef>
                <a:spcPts val="0"/>
              </a:spcBef>
              <a:spcAft>
                <a:spcPts val="0"/>
              </a:spcAft>
              <a:buClr>
                <a:srgbClr val="373334"/>
              </a:buClr>
              <a:buSzPts val="3300"/>
              <a:buNone/>
              <a:defRPr sz="3300">
                <a:solidFill>
                  <a:srgbClr val="373334"/>
                </a:solidFill>
              </a:defRPr>
            </a:lvl9pPr>
          </a:lstStyle>
          <a:p>
            <a:endParaRPr/>
          </a:p>
        </p:txBody>
      </p:sp>
      <p:sp>
        <p:nvSpPr>
          <p:cNvPr id="15" name="Google Shape;15;p3"/>
          <p:cNvSpPr txBox="1">
            <a:spLocks noGrp="1"/>
          </p:cNvSpPr>
          <p:nvPr>
            <p:ph type="subTitle" idx="1"/>
          </p:nvPr>
        </p:nvSpPr>
        <p:spPr>
          <a:xfrm>
            <a:off x="1477425" y="4030950"/>
            <a:ext cx="2770200" cy="578100"/>
          </a:xfrm>
          <a:prstGeom prst="rect">
            <a:avLst/>
          </a:prstGeom>
        </p:spPr>
        <p:txBody>
          <a:bodyPr spcFirstLastPara="1" wrap="square" lIns="91425" tIns="91425" rIns="91425" bIns="91425" anchor="t" anchorCtr="0">
            <a:noAutofit/>
          </a:bodyPr>
          <a:lstStyle>
            <a:lvl1pPr lvl="0">
              <a:spcBef>
                <a:spcPts val="0"/>
              </a:spcBef>
              <a:spcAft>
                <a:spcPts val="0"/>
              </a:spcAft>
              <a:buNone/>
              <a:defRPr sz="1400">
                <a:solidFill>
                  <a:srgbClr val="666666"/>
                </a:solidFill>
                <a:latin typeface="Spectral Light"/>
                <a:ea typeface="Spectral Light"/>
                <a:cs typeface="Spectral Light"/>
                <a:sym typeface="Spectral Light"/>
              </a:defRPr>
            </a:lvl1pPr>
            <a:lvl2pPr lvl="1">
              <a:spcBef>
                <a:spcPts val="0"/>
              </a:spcBef>
              <a:spcAft>
                <a:spcPts val="0"/>
              </a:spcAft>
              <a:buNone/>
              <a:defRPr>
                <a:solidFill>
                  <a:srgbClr val="666666"/>
                </a:solidFill>
                <a:latin typeface="Spectral Light"/>
                <a:ea typeface="Spectral Light"/>
                <a:cs typeface="Spectral Light"/>
                <a:sym typeface="Spectral Light"/>
              </a:defRPr>
            </a:lvl2pPr>
            <a:lvl3pPr lvl="2">
              <a:spcBef>
                <a:spcPts val="0"/>
              </a:spcBef>
              <a:spcAft>
                <a:spcPts val="0"/>
              </a:spcAft>
              <a:buNone/>
              <a:defRPr>
                <a:solidFill>
                  <a:srgbClr val="666666"/>
                </a:solidFill>
                <a:latin typeface="Spectral Light"/>
                <a:ea typeface="Spectral Light"/>
                <a:cs typeface="Spectral Light"/>
                <a:sym typeface="Spectral Light"/>
              </a:defRPr>
            </a:lvl3pPr>
            <a:lvl4pPr lvl="3">
              <a:spcBef>
                <a:spcPts val="0"/>
              </a:spcBef>
              <a:spcAft>
                <a:spcPts val="0"/>
              </a:spcAft>
              <a:buNone/>
              <a:defRPr>
                <a:solidFill>
                  <a:srgbClr val="666666"/>
                </a:solidFill>
                <a:latin typeface="Spectral Light"/>
                <a:ea typeface="Spectral Light"/>
                <a:cs typeface="Spectral Light"/>
                <a:sym typeface="Spectral Light"/>
              </a:defRPr>
            </a:lvl4pPr>
            <a:lvl5pPr lvl="4">
              <a:spcBef>
                <a:spcPts val="0"/>
              </a:spcBef>
              <a:spcAft>
                <a:spcPts val="0"/>
              </a:spcAft>
              <a:buNone/>
              <a:defRPr>
                <a:solidFill>
                  <a:srgbClr val="666666"/>
                </a:solidFill>
                <a:latin typeface="Spectral Light"/>
                <a:ea typeface="Spectral Light"/>
                <a:cs typeface="Spectral Light"/>
                <a:sym typeface="Spectral Light"/>
              </a:defRPr>
            </a:lvl5pPr>
            <a:lvl6pPr lvl="5">
              <a:spcBef>
                <a:spcPts val="0"/>
              </a:spcBef>
              <a:spcAft>
                <a:spcPts val="0"/>
              </a:spcAft>
              <a:buNone/>
              <a:defRPr>
                <a:solidFill>
                  <a:srgbClr val="666666"/>
                </a:solidFill>
                <a:latin typeface="Spectral Light"/>
                <a:ea typeface="Spectral Light"/>
                <a:cs typeface="Spectral Light"/>
                <a:sym typeface="Spectral Light"/>
              </a:defRPr>
            </a:lvl6pPr>
            <a:lvl7pPr lvl="6">
              <a:spcBef>
                <a:spcPts val="0"/>
              </a:spcBef>
              <a:spcAft>
                <a:spcPts val="0"/>
              </a:spcAft>
              <a:buNone/>
              <a:defRPr>
                <a:solidFill>
                  <a:srgbClr val="666666"/>
                </a:solidFill>
                <a:latin typeface="Spectral Light"/>
                <a:ea typeface="Spectral Light"/>
                <a:cs typeface="Spectral Light"/>
                <a:sym typeface="Spectral Light"/>
              </a:defRPr>
            </a:lvl7pPr>
            <a:lvl8pPr lvl="7">
              <a:spcBef>
                <a:spcPts val="0"/>
              </a:spcBef>
              <a:spcAft>
                <a:spcPts val="0"/>
              </a:spcAft>
              <a:buNone/>
              <a:defRPr>
                <a:solidFill>
                  <a:srgbClr val="666666"/>
                </a:solidFill>
                <a:latin typeface="Spectral Light"/>
                <a:ea typeface="Spectral Light"/>
                <a:cs typeface="Spectral Light"/>
                <a:sym typeface="Spectral Light"/>
              </a:defRPr>
            </a:lvl8pPr>
            <a:lvl9pPr lvl="8">
              <a:spcBef>
                <a:spcPts val="0"/>
              </a:spcBef>
              <a:spcAft>
                <a:spcPts val="0"/>
              </a:spcAft>
              <a:buNone/>
              <a:defRPr>
                <a:solidFill>
                  <a:srgbClr val="666666"/>
                </a:solidFill>
                <a:latin typeface="Spectral Light"/>
                <a:ea typeface="Spectral Light"/>
                <a:cs typeface="Spectral Light"/>
                <a:sym typeface="Spectral Light"/>
              </a:defRPr>
            </a:lvl9pPr>
          </a:lstStyle>
          <a:p>
            <a:endParaRPr/>
          </a:p>
        </p:txBody>
      </p:sp>
      <p:sp>
        <p:nvSpPr>
          <p:cNvPr id="17" name="Google Shape;17;p3"/>
          <p:cNvSpPr/>
          <p:nvPr/>
        </p:nvSpPr>
        <p:spPr>
          <a:xfrm rot="-5400000">
            <a:off x="-1173125" y="2799675"/>
            <a:ext cx="4615200" cy="92400"/>
          </a:xfrm>
          <a:prstGeom prst="rect">
            <a:avLst/>
          </a:prstGeom>
          <a:solidFill>
            <a:srgbClr val="1745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 name="Gráfico 8">
            <a:extLst>
              <a:ext uri="{FF2B5EF4-FFF2-40B4-BE49-F238E27FC236}">
                <a16:creationId xmlns:a16="http://schemas.microsoft.com/office/drawing/2014/main" id="{DFEBAE08-9ABD-8C49-902C-993C5B9AA85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35711" y="4555710"/>
            <a:ext cx="402793" cy="429254"/>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rgbClr val="202020"/>
              </a:buClr>
              <a:buSzPts val="3300"/>
              <a:buFont typeface="Montserrat ExtraBold"/>
              <a:buNone/>
              <a:defRPr sz="3300">
                <a:solidFill>
                  <a:srgbClr val="202020"/>
                </a:solidFill>
                <a:latin typeface="Montserrat ExtraBold"/>
                <a:ea typeface="Montserrat ExtraBold"/>
                <a:cs typeface="Montserrat ExtraBold"/>
                <a:sym typeface="Montserrat ExtraBold"/>
              </a:defRPr>
            </a:lvl1pPr>
            <a:lvl2pPr lvl="1" rtl="0">
              <a:spcBef>
                <a:spcPts val="0"/>
              </a:spcBef>
              <a:spcAft>
                <a:spcPts val="0"/>
              </a:spcAft>
              <a:buClr>
                <a:srgbClr val="202020"/>
              </a:buClr>
              <a:buSzPts val="3300"/>
              <a:buFont typeface="Montserrat ExtraBold"/>
              <a:buNone/>
              <a:defRPr sz="3300">
                <a:solidFill>
                  <a:srgbClr val="202020"/>
                </a:solidFill>
                <a:latin typeface="Montserrat ExtraBold"/>
                <a:ea typeface="Montserrat ExtraBold"/>
                <a:cs typeface="Montserrat ExtraBold"/>
                <a:sym typeface="Montserrat ExtraBold"/>
              </a:defRPr>
            </a:lvl2pPr>
            <a:lvl3pPr lvl="2" rtl="0">
              <a:spcBef>
                <a:spcPts val="0"/>
              </a:spcBef>
              <a:spcAft>
                <a:spcPts val="0"/>
              </a:spcAft>
              <a:buClr>
                <a:srgbClr val="202020"/>
              </a:buClr>
              <a:buSzPts val="3300"/>
              <a:buFont typeface="Montserrat ExtraBold"/>
              <a:buNone/>
              <a:defRPr sz="3300">
                <a:solidFill>
                  <a:srgbClr val="202020"/>
                </a:solidFill>
                <a:latin typeface="Montserrat ExtraBold"/>
                <a:ea typeface="Montserrat ExtraBold"/>
                <a:cs typeface="Montserrat ExtraBold"/>
                <a:sym typeface="Montserrat ExtraBold"/>
              </a:defRPr>
            </a:lvl3pPr>
            <a:lvl4pPr lvl="3" rtl="0">
              <a:spcBef>
                <a:spcPts val="0"/>
              </a:spcBef>
              <a:spcAft>
                <a:spcPts val="0"/>
              </a:spcAft>
              <a:buClr>
                <a:srgbClr val="202020"/>
              </a:buClr>
              <a:buSzPts val="3300"/>
              <a:buFont typeface="Montserrat ExtraBold"/>
              <a:buNone/>
              <a:defRPr sz="3300">
                <a:solidFill>
                  <a:srgbClr val="202020"/>
                </a:solidFill>
                <a:latin typeface="Montserrat ExtraBold"/>
                <a:ea typeface="Montserrat ExtraBold"/>
                <a:cs typeface="Montserrat ExtraBold"/>
                <a:sym typeface="Montserrat ExtraBold"/>
              </a:defRPr>
            </a:lvl4pPr>
            <a:lvl5pPr lvl="4" rtl="0">
              <a:spcBef>
                <a:spcPts val="0"/>
              </a:spcBef>
              <a:spcAft>
                <a:spcPts val="0"/>
              </a:spcAft>
              <a:buClr>
                <a:srgbClr val="202020"/>
              </a:buClr>
              <a:buSzPts val="3300"/>
              <a:buFont typeface="Montserrat ExtraBold"/>
              <a:buNone/>
              <a:defRPr sz="3300">
                <a:solidFill>
                  <a:srgbClr val="202020"/>
                </a:solidFill>
                <a:latin typeface="Montserrat ExtraBold"/>
                <a:ea typeface="Montserrat ExtraBold"/>
                <a:cs typeface="Montserrat ExtraBold"/>
                <a:sym typeface="Montserrat ExtraBold"/>
              </a:defRPr>
            </a:lvl5pPr>
            <a:lvl6pPr lvl="5" rtl="0">
              <a:spcBef>
                <a:spcPts val="0"/>
              </a:spcBef>
              <a:spcAft>
                <a:spcPts val="0"/>
              </a:spcAft>
              <a:buClr>
                <a:srgbClr val="202020"/>
              </a:buClr>
              <a:buSzPts val="3300"/>
              <a:buFont typeface="Montserrat ExtraBold"/>
              <a:buNone/>
              <a:defRPr sz="3300">
                <a:solidFill>
                  <a:srgbClr val="202020"/>
                </a:solidFill>
                <a:latin typeface="Montserrat ExtraBold"/>
                <a:ea typeface="Montserrat ExtraBold"/>
                <a:cs typeface="Montserrat ExtraBold"/>
                <a:sym typeface="Montserrat ExtraBold"/>
              </a:defRPr>
            </a:lvl6pPr>
            <a:lvl7pPr lvl="6" rtl="0">
              <a:spcBef>
                <a:spcPts val="0"/>
              </a:spcBef>
              <a:spcAft>
                <a:spcPts val="0"/>
              </a:spcAft>
              <a:buClr>
                <a:srgbClr val="202020"/>
              </a:buClr>
              <a:buSzPts val="3300"/>
              <a:buFont typeface="Montserrat ExtraBold"/>
              <a:buNone/>
              <a:defRPr sz="3300">
                <a:solidFill>
                  <a:srgbClr val="202020"/>
                </a:solidFill>
                <a:latin typeface="Montserrat ExtraBold"/>
                <a:ea typeface="Montserrat ExtraBold"/>
                <a:cs typeface="Montserrat ExtraBold"/>
                <a:sym typeface="Montserrat ExtraBold"/>
              </a:defRPr>
            </a:lvl7pPr>
            <a:lvl8pPr lvl="7" rtl="0">
              <a:spcBef>
                <a:spcPts val="0"/>
              </a:spcBef>
              <a:spcAft>
                <a:spcPts val="0"/>
              </a:spcAft>
              <a:buClr>
                <a:srgbClr val="202020"/>
              </a:buClr>
              <a:buSzPts val="3300"/>
              <a:buFont typeface="Montserrat ExtraBold"/>
              <a:buNone/>
              <a:defRPr sz="3300">
                <a:solidFill>
                  <a:srgbClr val="202020"/>
                </a:solidFill>
                <a:latin typeface="Montserrat ExtraBold"/>
                <a:ea typeface="Montserrat ExtraBold"/>
                <a:cs typeface="Montserrat ExtraBold"/>
                <a:sym typeface="Montserrat ExtraBold"/>
              </a:defRPr>
            </a:lvl8pPr>
            <a:lvl9pPr lvl="8" rtl="0">
              <a:spcBef>
                <a:spcPts val="0"/>
              </a:spcBef>
              <a:spcAft>
                <a:spcPts val="0"/>
              </a:spcAft>
              <a:buClr>
                <a:srgbClr val="202020"/>
              </a:buClr>
              <a:buSzPts val="3300"/>
              <a:buFont typeface="Montserrat ExtraBold"/>
              <a:buNone/>
              <a:defRPr sz="3300">
                <a:solidFill>
                  <a:srgbClr val="202020"/>
                </a:solidFill>
                <a:latin typeface="Montserrat ExtraBold"/>
                <a:ea typeface="Montserrat ExtraBold"/>
                <a:cs typeface="Montserrat ExtraBold"/>
                <a:sym typeface="Montserrat ExtraBold"/>
              </a:defRPr>
            </a:lvl9pPr>
          </a:lstStyle>
          <a:p>
            <a:endParaRPr/>
          </a:p>
        </p:txBody>
      </p:sp>
      <p:sp>
        <p:nvSpPr>
          <p:cNvPr id="7" name="Google Shape;7;p1"/>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rgbClr val="666666"/>
              </a:buClr>
              <a:buSzPts val="1400"/>
              <a:buFont typeface="Spectral Light"/>
              <a:buChar char="●"/>
              <a:defRPr>
                <a:solidFill>
                  <a:srgbClr val="666666"/>
                </a:solidFill>
                <a:latin typeface="Spectral Light"/>
                <a:ea typeface="Spectral Light"/>
                <a:cs typeface="Spectral Light"/>
                <a:sym typeface="Spectral Light"/>
              </a:defRPr>
            </a:lvl1pPr>
            <a:lvl2pPr marL="914400" lvl="1" indent="-317500" rtl="0">
              <a:lnSpc>
                <a:spcPct val="100000"/>
              </a:lnSpc>
              <a:spcBef>
                <a:spcPts val="0"/>
              </a:spcBef>
              <a:spcAft>
                <a:spcPts val="0"/>
              </a:spcAft>
              <a:buClr>
                <a:srgbClr val="666666"/>
              </a:buClr>
              <a:buSzPts val="1400"/>
              <a:buFont typeface="Spectral Light"/>
              <a:buChar char="○"/>
              <a:defRPr>
                <a:solidFill>
                  <a:srgbClr val="666666"/>
                </a:solidFill>
                <a:latin typeface="Spectral Light"/>
                <a:ea typeface="Spectral Light"/>
                <a:cs typeface="Spectral Light"/>
                <a:sym typeface="Spectral Light"/>
              </a:defRPr>
            </a:lvl2pPr>
            <a:lvl3pPr marL="1371600" lvl="2" indent="-317500" rtl="0">
              <a:lnSpc>
                <a:spcPct val="100000"/>
              </a:lnSpc>
              <a:spcBef>
                <a:spcPts val="0"/>
              </a:spcBef>
              <a:spcAft>
                <a:spcPts val="0"/>
              </a:spcAft>
              <a:buClr>
                <a:srgbClr val="666666"/>
              </a:buClr>
              <a:buSzPts val="1400"/>
              <a:buFont typeface="Spectral Light"/>
              <a:buChar char="■"/>
              <a:defRPr>
                <a:solidFill>
                  <a:srgbClr val="666666"/>
                </a:solidFill>
                <a:latin typeface="Spectral Light"/>
                <a:ea typeface="Spectral Light"/>
                <a:cs typeface="Spectral Light"/>
                <a:sym typeface="Spectral Light"/>
              </a:defRPr>
            </a:lvl3pPr>
            <a:lvl4pPr marL="1828800" lvl="3" indent="-317500" rtl="0">
              <a:lnSpc>
                <a:spcPct val="100000"/>
              </a:lnSpc>
              <a:spcBef>
                <a:spcPts val="0"/>
              </a:spcBef>
              <a:spcAft>
                <a:spcPts val="0"/>
              </a:spcAft>
              <a:buClr>
                <a:srgbClr val="666666"/>
              </a:buClr>
              <a:buSzPts val="1400"/>
              <a:buFont typeface="Spectral Light"/>
              <a:buChar char="●"/>
              <a:defRPr>
                <a:solidFill>
                  <a:srgbClr val="666666"/>
                </a:solidFill>
                <a:latin typeface="Spectral Light"/>
                <a:ea typeface="Spectral Light"/>
                <a:cs typeface="Spectral Light"/>
                <a:sym typeface="Spectral Light"/>
              </a:defRPr>
            </a:lvl4pPr>
            <a:lvl5pPr marL="2286000" lvl="4" indent="-317500" rtl="0">
              <a:lnSpc>
                <a:spcPct val="100000"/>
              </a:lnSpc>
              <a:spcBef>
                <a:spcPts val="0"/>
              </a:spcBef>
              <a:spcAft>
                <a:spcPts val="0"/>
              </a:spcAft>
              <a:buClr>
                <a:srgbClr val="666666"/>
              </a:buClr>
              <a:buSzPts val="1400"/>
              <a:buFont typeface="Spectral Light"/>
              <a:buChar char="○"/>
              <a:defRPr>
                <a:solidFill>
                  <a:srgbClr val="666666"/>
                </a:solidFill>
                <a:latin typeface="Spectral Light"/>
                <a:ea typeface="Spectral Light"/>
                <a:cs typeface="Spectral Light"/>
                <a:sym typeface="Spectral Light"/>
              </a:defRPr>
            </a:lvl5pPr>
            <a:lvl6pPr marL="2743200" lvl="5" indent="-317500" rtl="0">
              <a:lnSpc>
                <a:spcPct val="100000"/>
              </a:lnSpc>
              <a:spcBef>
                <a:spcPts val="0"/>
              </a:spcBef>
              <a:spcAft>
                <a:spcPts val="0"/>
              </a:spcAft>
              <a:buClr>
                <a:srgbClr val="666666"/>
              </a:buClr>
              <a:buSzPts val="1400"/>
              <a:buFont typeface="Spectral Light"/>
              <a:buChar char="■"/>
              <a:defRPr>
                <a:solidFill>
                  <a:srgbClr val="666666"/>
                </a:solidFill>
                <a:latin typeface="Spectral Light"/>
                <a:ea typeface="Spectral Light"/>
                <a:cs typeface="Spectral Light"/>
                <a:sym typeface="Spectral Light"/>
              </a:defRPr>
            </a:lvl6pPr>
            <a:lvl7pPr marL="3200400" lvl="6" indent="-317500" rtl="0">
              <a:lnSpc>
                <a:spcPct val="100000"/>
              </a:lnSpc>
              <a:spcBef>
                <a:spcPts val="0"/>
              </a:spcBef>
              <a:spcAft>
                <a:spcPts val="0"/>
              </a:spcAft>
              <a:buClr>
                <a:srgbClr val="666666"/>
              </a:buClr>
              <a:buSzPts val="1400"/>
              <a:buFont typeface="Spectral Light"/>
              <a:buChar char="●"/>
              <a:defRPr>
                <a:solidFill>
                  <a:srgbClr val="666666"/>
                </a:solidFill>
                <a:latin typeface="Spectral Light"/>
                <a:ea typeface="Spectral Light"/>
                <a:cs typeface="Spectral Light"/>
                <a:sym typeface="Spectral Light"/>
              </a:defRPr>
            </a:lvl7pPr>
            <a:lvl8pPr marL="3657600" lvl="7" indent="-317500" rtl="0">
              <a:lnSpc>
                <a:spcPct val="100000"/>
              </a:lnSpc>
              <a:spcBef>
                <a:spcPts val="0"/>
              </a:spcBef>
              <a:spcAft>
                <a:spcPts val="0"/>
              </a:spcAft>
              <a:buClr>
                <a:srgbClr val="666666"/>
              </a:buClr>
              <a:buSzPts val="1400"/>
              <a:buFont typeface="Spectral Light"/>
              <a:buChar char="○"/>
              <a:defRPr>
                <a:solidFill>
                  <a:srgbClr val="666666"/>
                </a:solidFill>
                <a:latin typeface="Spectral Light"/>
                <a:ea typeface="Spectral Light"/>
                <a:cs typeface="Spectral Light"/>
                <a:sym typeface="Spectral Light"/>
              </a:defRPr>
            </a:lvl8pPr>
            <a:lvl9pPr marL="4114800" lvl="8" indent="-317500" rtl="0">
              <a:lnSpc>
                <a:spcPct val="100000"/>
              </a:lnSpc>
              <a:spcBef>
                <a:spcPts val="0"/>
              </a:spcBef>
              <a:spcAft>
                <a:spcPts val="0"/>
              </a:spcAft>
              <a:buClr>
                <a:srgbClr val="666666"/>
              </a:buClr>
              <a:buSzPts val="1400"/>
              <a:buFont typeface="Spectral Light"/>
              <a:buChar char="■"/>
              <a:defRPr>
                <a:solidFill>
                  <a:srgbClr val="666666"/>
                </a:solidFill>
                <a:latin typeface="Spectral Light"/>
                <a:ea typeface="Spectral Light"/>
                <a:cs typeface="Spectral Light"/>
                <a:sym typeface="Spectral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sv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hyperlink" Target="https://discord.gg/wt5CVZZWJs"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cin.ufpe.br/~gta/rup-vc/extend.formal_resources/guidances/examples/resources/test_plan_v1.htm"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hyperlink" Target="https://pt.slideshare.net/LeandroRodrigues221/exemplo-de-plano-de-testes"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devmedia.com.br/java/"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32.xml.rels><?xml version="1.0" encoding="UTF-8" standalone="yes"?>
<Relationships xmlns="http://schemas.openxmlformats.org/package/2006/relationships"><Relationship Id="rId8" Type="http://schemas.openxmlformats.org/officeDocument/2006/relationships/hyperlink" Target="https://www.devmedia.com.br/plano-de-teste-um-mapa-essencial-para-teste-de-software/13824" TargetMode="External"/><Relationship Id="rId3" Type="http://schemas.openxmlformats.org/officeDocument/2006/relationships/image" Target="../media/image4.png"/><Relationship Id="rId7" Type="http://schemas.openxmlformats.org/officeDocument/2006/relationships/hyperlink" Target="https://cwi.com.br/blog/o-que-e-teste-de-software-por-que-e-necessario/" TargetMode="External"/><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hyperlink" Target="https://www.devmedia.com.br/guia/tecnicas-e-fundamentos-de-testes-de-software/34403" TargetMode="External"/><Relationship Id="rId5" Type="http://schemas.openxmlformats.org/officeDocument/2006/relationships/hyperlink" Target="https://www.objective.com.br/insights/testes-de-software/" TargetMode="External"/><Relationship Id="rId4" Type="http://schemas.openxmlformats.org/officeDocument/2006/relationships/image" Target="../media/image5.svg"/><Relationship Id="rId9" Type="http://schemas.openxmlformats.org/officeDocument/2006/relationships/hyperlink" Target="https://www.devmedia.com.br/e-ai-como-voce-testa-seus-codigos/39478"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hyperlink" Target="https://dayvsonlima.medium.com/entenda-de-uma-vez-por-todas-o-que-s%C3%A3o-testes-unit%C3%A1rios-para-que-servem-e-como-faz%C3%AA-los-2a6f645bab3" TargetMode="External"/><Relationship Id="rId5" Type="http://schemas.openxmlformats.org/officeDocument/2006/relationships/hyperlink" Target="https://coodesh.com/blog/dicionario/o-que-sao-testes-unitarios/" TargetMode="External"/><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p26"/>
          <p:cNvPicPr preferRelativeResize="0"/>
          <p:nvPr/>
        </p:nvPicPr>
        <p:blipFill rotWithShape="1">
          <a:blip r:embed="rId3">
            <a:alphaModFix/>
          </a:blip>
          <a:srcRect l="13106" t="15681" r="3518" b="17473"/>
          <a:stretch/>
        </p:blipFill>
        <p:spPr>
          <a:xfrm>
            <a:off x="1198475" y="534325"/>
            <a:ext cx="7624521" cy="4074852"/>
          </a:xfrm>
          <a:prstGeom prst="rect">
            <a:avLst/>
          </a:prstGeom>
          <a:noFill/>
          <a:ln>
            <a:noFill/>
          </a:ln>
        </p:spPr>
      </p:pic>
      <p:sp>
        <p:nvSpPr>
          <p:cNvPr id="164" name="Google Shape;164;p26"/>
          <p:cNvSpPr txBox="1">
            <a:spLocks noGrp="1"/>
          </p:cNvSpPr>
          <p:nvPr>
            <p:ph type="ctrTitle"/>
          </p:nvPr>
        </p:nvSpPr>
        <p:spPr>
          <a:xfrm>
            <a:off x="1588377" y="1449263"/>
            <a:ext cx="7480662" cy="1968963"/>
          </a:xfrm>
          <a:prstGeom prst="rect">
            <a:avLst/>
          </a:prstGeom>
        </p:spPr>
        <p:txBody>
          <a:bodyPr spcFirstLastPara="1" wrap="square" lIns="91425" tIns="91425" rIns="91425" bIns="91425" anchor="ctr" anchorCtr="0">
            <a:noAutofit/>
          </a:bodyPr>
          <a:lstStyle/>
          <a:p>
            <a:pPr>
              <a:defRPr/>
            </a:pPr>
            <a:r>
              <a:rPr lang="pt-BR" sz="3200" b="1" i="0" u="none" strike="noStrike" cap="none" dirty="0">
                <a:solidFill>
                  <a:schemeClr val="dk1"/>
                </a:solidFill>
                <a:latin typeface="Times New Roman"/>
                <a:ea typeface="Times New Roman"/>
                <a:cs typeface="Times New Roman"/>
                <a:sym typeface="Times New Roman"/>
              </a:rPr>
              <a:t>Teste de Software</a:t>
            </a:r>
            <a:br>
              <a:rPr lang="pt-BR" sz="2400" dirty="0">
                <a:solidFill>
                  <a:schemeClr val="dk1"/>
                </a:solidFill>
                <a:latin typeface="Times New Roman"/>
                <a:ea typeface="Times New Roman"/>
                <a:cs typeface="Times New Roman"/>
                <a:sym typeface="Times New Roman"/>
              </a:rPr>
            </a:br>
            <a:br>
              <a:rPr lang="pt-BR" altLang="pt-BR" sz="6000" dirty="0">
                <a:solidFill>
                  <a:schemeClr val="tx1"/>
                </a:solidFill>
                <a:latin typeface="Times New Roman" panose="02020603050405020304" pitchFamily="18" charset="0"/>
                <a:cs typeface="Times New Roman" panose="02020603050405020304" pitchFamily="18" charset="0"/>
              </a:rPr>
            </a:br>
            <a:r>
              <a:rPr lang="pt-BR" altLang="pt-BR" sz="2400" dirty="0">
                <a:solidFill>
                  <a:schemeClr val="tx1"/>
                </a:solidFill>
                <a:latin typeface="Times New Roman" panose="02020603050405020304" pitchFamily="18" charset="0"/>
                <a:cs typeface="Times New Roman" panose="02020603050405020304" pitchFamily="18" charset="0"/>
              </a:rPr>
              <a:t>Instrutor: Tarik Ponciano</a:t>
            </a:r>
            <a:endParaRPr sz="2400" dirty="0">
              <a:solidFill>
                <a:srgbClr val="174584"/>
              </a:solidFill>
            </a:endParaRPr>
          </a:p>
        </p:txBody>
      </p:sp>
      <p:pic>
        <p:nvPicPr>
          <p:cNvPr id="13" name="Gráfico 12">
            <a:extLst>
              <a:ext uri="{FF2B5EF4-FFF2-40B4-BE49-F238E27FC236}">
                <a16:creationId xmlns:a16="http://schemas.microsoft.com/office/drawing/2014/main" id="{839B6F31-A889-BF4D-B864-4B8705EFC9F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588377" y="4333164"/>
            <a:ext cx="1571756" cy="509249"/>
          </a:xfrm>
          <a:prstGeom prst="rect">
            <a:avLst/>
          </a:prstGeom>
        </p:spPr>
      </p:pic>
    </p:spTree>
    <p:extLst>
      <p:ext uri="{BB962C8B-B14F-4D97-AF65-F5344CB8AC3E}">
        <p14:creationId xmlns:p14="http://schemas.microsoft.com/office/powerpoint/2010/main" val="1324688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69;p3">
            <a:extLst>
              <a:ext uri="{FF2B5EF4-FFF2-40B4-BE49-F238E27FC236}">
                <a16:creationId xmlns:a16="http://schemas.microsoft.com/office/drawing/2014/main" id="{A005DEC8-8C73-84BE-4077-625703D6B8BA}"/>
              </a:ext>
            </a:extLst>
          </p:cNvPr>
          <p:cNvSpPr txBox="1"/>
          <p:nvPr/>
        </p:nvSpPr>
        <p:spPr>
          <a:xfrm>
            <a:off x="1362901" y="486231"/>
            <a:ext cx="7942263" cy="4616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Links da Disciplina</a:t>
            </a:r>
          </a:p>
        </p:txBody>
      </p:sp>
      <p:sp>
        <p:nvSpPr>
          <p:cNvPr id="3" name="Google Shape;70;p3">
            <a:extLst>
              <a:ext uri="{FF2B5EF4-FFF2-40B4-BE49-F238E27FC236}">
                <a16:creationId xmlns:a16="http://schemas.microsoft.com/office/drawing/2014/main" id="{0EB76040-0963-DB8D-85F6-05B112FB6310}"/>
              </a:ext>
            </a:extLst>
          </p:cNvPr>
          <p:cNvSpPr txBox="1"/>
          <p:nvPr/>
        </p:nvSpPr>
        <p:spPr>
          <a:xfrm>
            <a:off x="1362901" y="1294497"/>
            <a:ext cx="6369158" cy="2862282"/>
          </a:xfrm>
          <a:prstGeom prst="rect">
            <a:avLst/>
          </a:prstGeom>
          <a:noFill/>
          <a:ln>
            <a:noFill/>
          </a:ln>
        </p:spPr>
        <p:txBody>
          <a:bodyPr spcFirstLastPara="1" wrap="square" lIns="91425" tIns="45700" rIns="91425" bIns="45700" anchor="t" anchorCtr="0">
            <a:spAutoFit/>
          </a:bodyPr>
          <a:lstStyle/>
          <a:p>
            <a:pPr marL="457200" marR="0" lvl="0" indent="-457200" algn="just" rtl="0">
              <a:spcBef>
                <a:spcPts val="0"/>
              </a:spcBef>
              <a:spcAft>
                <a:spcPts val="0"/>
              </a:spcAft>
              <a:buClr>
                <a:srgbClr val="000000"/>
              </a:buClr>
              <a:buSzPts val="2000"/>
              <a:buFont typeface="Arial"/>
              <a:buAutoNum type="arabicPeriod"/>
            </a:pPr>
            <a:r>
              <a:rPr lang="pt-BR" sz="2000" b="0" i="0" u="none" strike="noStrike" cap="none" dirty="0">
                <a:solidFill>
                  <a:schemeClr val="dk1"/>
                </a:solidFill>
                <a:latin typeface="Times New Roman"/>
                <a:ea typeface="Times New Roman"/>
                <a:cs typeface="Times New Roman"/>
                <a:sym typeface="Times New Roman"/>
              </a:rPr>
              <a:t>Discord: </a:t>
            </a:r>
            <a:r>
              <a:rPr lang="pt-BR" sz="2000" b="0" i="0" u="none" strike="noStrike" cap="none" dirty="0">
                <a:solidFill>
                  <a:schemeClr val="dk1"/>
                </a:solidFill>
                <a:latin typeface="Times New Roman"/>
                <a:ea typeface="Times New Roman"/>
                <a:cs typeface="Times New Roman"/>
                <a:sym typeface="Times New Roman"/>
                <a:hlinkClick r:id="rId3"/>
              </a:rPr>
              <a:t>https://discord.gg/wt5CVZZWJs</a:t>
            </a:r>
            <a:endParaRPr lang="pt-BR" sz="2000" b="0" i="0" u="none" strike="noStrike" cap="none" dirty="0">
              <a:solidFill>
                <a:schemeClr val="dk1"/>
              </a:solidFill>
              <a:latin typeface="Times New Roman"/>
              <a:ea typeface="Times New Roman"/>
              <a:cs typeface="Times New Roman"/>
              <a:sym typeface="Times New Roman"/>
            </a:endParaRPr>
          </a:p>
          <a:p>
            <a:pPr marL="457200" marR="0" lvl="0" indent="-457200" algn="just" rtl="0">
              <a:spcBef>
                <a:spcPts val="0"/>
              </a:spcBef>
              <a:spcAft>
                <a:spcPts val="0"/>
              </a:spcAft>
              <a:buClr>
                <a:srgbClr val="000000"/>
              </a:buClr>
              <a:buSzPts val="2000"/>
              <a:buFont typeface="Arial"/>
              <a:buAutoNum type="arabicPeriod"/>
            </a:pPr>
            <a:endParaRPr lang="pt-BR" sz="2000" b="0" i="0" u="none" strike="noStrike" cap="none" dirty="0">
              <a:solidFill>
                <a:schemeClr val="dk1"/>
              </a:solidFill>
              <a:latin typeface="Times New Roman"/>
              <a:ea typeface="Times New Roman"/>
              <a:cs typeface="Times New Roman"/>
              <a:sym typeface="Times New Roman"/>
            </a:endParaRPr>
          </a:p>
          <a:p>
            <a:pPr marL="457200" marR="0" lvl="0" indent="-457200" algn="just" rtl="0">
              <a:spcBef>
                <a:spcPts val="0"/>
              </a:spcBef>
              <a:spcAft>
                <a:spcPts val="0"/>
              </a:spcAft>
              <a:buClr>
                <a:srgbClr val="000000"/>
              </a:buClr>
              <a:buSzPts val="2000"/>
              <a:buFont typeface="Arial"/>
              <a:buAutoNum type="arabicPeriod"/>
            </a:pPr>
            <a:r>
              <a:rPr lang="pt-BR" sz="2000" dirty="0">
                <a:solidFill>
                  <a:schemeClr val="dk1"/>
                </a:solidFill>
                <a:latin typeface="Times New Roman"/>
                <a:ea typeface="Times New Roman"/>
                <a:cs typeface="Times New Roman"/>
                <a:sym typeface="Times New Roman"/>
              </a:rPr>
              <a:t>Drive: https://drive.google.com/drive/folders/1hOl0DaPeAor7gnhKBUIlZ5n8lLRDNvUY?usp=sharing</a:t>
            </a:r>
          </a:p>
          <a:p>
            <a:pPr marL="457200" marR="0" lvl="0" indent="-457200" algn="just" rtl="0">
              <a:spcBef>
                <a:spcPts val="0"/>
              </a:spcBef>
              <a:spcAft>
                <a:spcPts val="0"/>
              </a:spcAft>
              <a:buClr>
                <a:srgbClr val="000000"/>
              </a:buClr>
              <a:buSzPts val="2000"/>
              <a:buFont typeface="Arial"/>
              <a:buAutoNum type="arabicPeriod"/>
            </a:pPr>
            <a:endParaRPr lang="pt-BR" sz="2000" dirty="0">
              <a:solidFill>
                <a:schemeClr val="dk1"/>
              </a:solidFill>
              <a:latin typeface="Times New Roman"/>
              <a:ea typeface="Times New Roman"/>
              <a:cs typeface="Times New Roman"/>
              <a:sym typeface="Times New Roman"/>
            </a:endParaRPr>
          </a:p>
          <a:p>
            <a:pPr marL="457200" indent="-457200" algn="just">
              <a:buSzPts val="2000"/>
              <a:buFont typeface="Arial"/>
              <a:buAutoNum type="arabicPeriod"/>
            </a:pPr>
            <a:r>
              <a:rPr lang="pt-BR" sz="2000" b="0" i="0" u="none" strike="noStrike" cap="none" dirty="0" err="1">
                <a:solidFill>
                  <a:schemeClr val="dk1"/>
                </a:solidFill>
                <a:latin typeface="Times New Roman"/>
                <a:ea typeface="Times New Roman"/>
                <a:cs typeface="Times New Roman"/>
                <a:sym typeface="Times New Roman"/>
              </a:rPr>
              <a:t>Github</a:t>
            </a:r>
            <a:r>
              <a:rPr lang="pt-BR" sz="2000" b="0" i="0" u="none" strike="noStrike" cap="none" dirty="0">
                <a:solidFill>
                  <a:schemeClr val="dk1"/>
                </a:solidFill>
                <a:latin typeface="Times New Roman"/>
                <a:ea typeface="Times New Roman"/>
                <a:cs typeface="Times New Roman"/>
                <a:sym typeface="Times New Roman"/>
              </a:rPr>
              <a:t>: https://github.com/TarikPonciano/Programador-de-Sistema-SENAC </a:t>
            </a:r>
            <a:endParaRPr lang="pt-BR" sz="2000" dirty="0"/>
          </a:p>
        </p:txBody>
      </p:sp>
    </p:spTree>
    <p:extLst>
      <p:ext uri="{BB962C8B-B14F-4D97-AF65-F5344CB8AC3E}">
        <p14:creationId xmlns:p14="http://schemas.microsoft.com/office/powerpoint/2010/main" val="31276529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519603"/>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Teste de Software– O que é?</a:t>
            </a:r>
            <a:endParaRPr sz="2400" b="0" i="0" u="none" strike="noStrike" cap="none" dirty="0">
              <a:solidFill>
                <a:schemeClr val="dk1"/>
              </a:solidFill>
              <a:latin typeface="Times New Roman"/>
              <a:ea typeface="Times New Roman"/>
              <a:cs typeface="Times New Roman"/>
              <a:sym typeface="Times New Roman"/>
            </a:endParaRPr>
          </a:p>
        </p:txBody>
      </p:sp>
      <p:sp>
        <p:nvSpPr>
          <p:cNvPr id="4" name="CaixaDeTexto 3">
            <a:extLst>
              <a:ext uri="{FF2B5EF4-FFF2-40B4-BE49-F238E27FC236}">
                <a16:creationId xmlns:a16="http://schemas.microsoft.com/office/drawing/2014/main" id="{6A124AC4-DA8D-1ADE-370D-84FBEE84B287}"/>
              </a:ext>
            </a:extLst>
          </p:cNvPr>
          <p:cNvSpPr txBox="1"/>
          <p:nvPr/>
        </p:nvSpPr>
        <p:spPr>
          <a:xfrm>
            <a:off x="1669926" y="1232922"/>
            <a:ext cx="6569532" cy="3970318"/>
          </a:xfrm>
          <a:prstGeom prst="rect">
            <a:avLst/>
          </a:prstGeom>
          <a:noFill/>
        </p:spPr>
        <p:txBody>
          <a:bodyPr wrap="square" rtlCol="0">
            <a:spAutoFit/>
          </a:bodyPr>
          <a:lstStyle/>
          <a:p>
            <a:pPr algn="l"/>
            <a:r>
              <a:rPr lang="pt-BR" b="0" i="0" dirty="0">
                <a:solidFill>
                  <a:schemeClr val="tx1"/>
                </a:solidFill>
                <a:effectLst/>
                <a:latin typeface="Source Serif Pro" panose="02040603050405020204" pitchFamily="18" charset="0"/>
                <a:ea typeface="Source Serif Pro" panose="02040603050405020204" pitchFamily="18" charset="0"/>
              </a:rPr>
              <a:t>Os testes representam uma etapa de extrema importância no processo de desenvolvimento de software, pois visam validar se a aplicação está funcionando corretamente e se atende aos requisitos especificados.</a:t>
            </a:r>
          </a:p>
          <a:p>
            <a:pPr algn="l"/>
            <a:endParaRPr lang="pt-BR" b="0" i="0" dirty="0">
              <a:solidFill>
                <a:schemeClr val="tx1"/>
              </a:solidFill>
              <a:effectLst/>
              <a:latin typeface="Source Serif Pro" panose="02040603050405020204" pitchFamily="18" charset="0"/>
              <a:ea typeface="Source Serif Pro" panose="02040603050405020204" pitchFamily="18" charset="0"/>
            </a:endParaRPr>
          </a:p>
          <a:p>
            <a:pPr algn="l"/>
            <a:r>
              <a:rPr lang="pt-BR" b="0" i="0" dirty="0">
                <a:solidFill>
                  <a:schemeClr val="tx1"/>
                </a:solidFill>
                <a:effectLst/>
                <a:latin typeface="Source Serif Pro" panose="02040603050405020204" pitchFamily="18" charset="0"/>
                <a:ea typeface="Source Serif Pro" panose="02040603050405020204" pitchFamily="18" charset="0"/>
              </a:rPr>
              <a:t>Nesse contexto existem diversas técnicas que podem ser aplicadas em diferentes momentos e de diferentes formas para validar os aspectos principais do software.</a:t>
            </a:r>
          </a:p>
          <a:p>
            <a:pPr algn="l"/>
            <a:endParaRPr lang="pt-BR" dirty="0">
              <a:solidFill>
                <a:schemeClr val="tx1"/>
              </a:solidFill>
              <a:latin typeface="Source Serif Pro" panose="02040603050405020204" pitchFamily="18" charset="0"/>
              <a:ea typeface="Source Serif Pro" panose="02040603050405020204" pitchFamily="18" charset="0"/>
            </a:endParaRPr>
          </a:p>
          <a:p>
            <a:pPr algn="l"/>
            <a:r>
              <a:rPr lang="pt-BR" b="0" i="0" dirty="0">
                <a:solidFill>
                  <a:schemeClr val="tx1"/>
                </a:solidFill>
                <a:effectLst/>
                <a:latin typeface="Source Serif Pro" panose="02040603050405020204" pitchFamily="18" charset="0"/>
                <a:ea typeface="Source Serif Pro" panose="02040603050405020204" pitchFamily="18" charset="0"/>
              </a:rPr>
              <a:t>O teste de software é uma parte crucial do desenvolvimento de um software. Ele irá, como o nome sugere, testar e verificar se o software consegue entregar corretamente tudo que ele propõe. </a:t>
            </a:r>
          </a:p>
          <a:p>
            <a:pPr algn="l"/>
            <a:endParaRPr lang="pt-BR" b="0" i="0" dirty="0">
              <a:solidFill>
                <a:schemeClr val="tx1"/>
              </a:solidFill>
              <a:effectLst/>
              <a:latin typeface="Source Serif Pro" panose="02040603050405020204" pitchFamily="18" charset="0"/>
              <a:ea typeface="Source Serif Pro" panose="02040603050405020204" pitchFamily="18" charset="0"/>
            </a:endParaRPr>
          </a:p>
          <a:p>
            <a:pPr algn="l"/>
            <a:r>
              <a:rPr lang="pt-BR" b="0" i="0" dirty="0">
                <a:solidFill>
                  <a:schemeClr val="tx1"/>
                </a:solidFill>
                <a:effectLst/>
                <a:latin typeface="Source Serif Pro" panose="02040603050405020204" pitchFamily="18" charset="0"/>
                <a:ea typeface="Source Serif Pro" panose="02040603050405020204" pitchFamily="18" charset="0"/>
              </a:rPr>
              <a:t>Esses testes podem ser realizados em qualquer uma das partes do software, desde a unidade pequena até seu funcionamento como um todo, analisando também o número de dados e a sua segurança. </a:t>
            </a:r>
          </a:p>
          <a:p>
            <a:pPr algn="l"/>
            <a:endParaRPr lang="pt-BR" b="0" i="0" dirty="0">
              <a:solidFill>
                <a:schemeClr val="tx1"/>
              </a:solidFill>
              <a:effectLst/>
              <a:latin typeface="Source Serif Pro" panose="02040603050405020204" pitchFamily="18" charset="0"/>
              <a:ea typeface="Source Serif Pro" panose="02040603050405020204" pitchFamily="18" charset="0"/>
            </a:endParaRPr>
          </a:p>
          <a:p>
            <a:endParaRPr lang="pt-BR" dirty="0">
              <a:solidFill>
                <a:schemeClr val="tx1"/>
              </a:solidFill>
              <a:latin typeface="Source Serif Pro" panose="02040603050405020204" pitchFamily="18" charset="0"/>
              <a:ea typeface="Source Serif Pro" panose="02040603050405020204" pitchFamily="18" charset="0"/>
            </a:endParaRPr>
          </a:p>
          <a:p>
            <a:endParaRPr lang="pt-BR" dirty="0">
              <a:solidFill>
                <a:schemeClr val="tx1"/>
              </a:solidFill>
              <a:latin typeface="Source Serif Pro" panose="02040603050405020204" pitchFamily="18" charset="0"/>
              <a:ea typeface="Source Serif Pro" panose="02040603050405020204" pitchFamily="18" charset="0"/>
            </a:endParaRPr>
          </a:p>
        </p:txBody>
      </p:sp>
    </p:spTree>
    <p:extLst>
      <p:ext uri="{BB962C8B-B14F-4D97-AF65-F5344CB8AC3E}">
        <p14:creationId xmlns:p14="http://schemas.microsoft.com/office/powerpoint/2010/main" val="1986759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519603"/>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Teste de Software– O que é?</a:t>
            </a:r>
            <a:endParaRPr sz="2400" b="0" i="0" u="none" strike="noStrike" cap="none" dirty="0">
              <a:solidFill>
                <a:schemeClr val="dk1"/>
              </a:solidFill>
              <a:latin typeface="Times New Roman"/>
              <a:ea typeface="Times New Roman"/>
              <a:cs typeface="Times New Roman"/>
              <a:sym typeface="Times New Roman"/>
            </a:endParaRPr>
          </a:p>
        </p:txBody>
      </p:sp>
      <p:sp>
        <p:nvSpPr>
          <p:cNvPr id="4" name="CaixaDeTexto 3">
            <a:extLst>
              <a:ext uri="{FF2B5EF4-FFF2-40B4-BE49-F238E27FC236}">
                <a16:creationId xmlns:a16="http://schemas.microsoft.com/office/drawing/2014/main" id="{6A124AC4-DA8D-1ADE-370D-84FBEE84B287}"/>
              </a:ext>
            </a:extLst>
          </p:cNvPr>
          <p:cNvSpPr txBox="1"/>
          <p:nvPr/>
        </p:nvSpPr>
        <p:spPr>
          <a:xfrm>
            <a:off x="1669926" y="1232922"/>
            <a:ext cx="6569532" cy="3539430"/>
          </a:xfrm>
          <a:prstGeom prst="rect">
            <a:avLst/>
          </a:prstGeom>
          <a:noFill/>
        </p:spPr>
        <p:txBody>
          <a:bodyPr wrap="square" rtlCol="0">
            <a:spAutoFit/>
          </a:bodyPr>
          <a:lstStyle/>
          <a:p>
            <a:pPr algn="l">
              <a:buFont typeface="Arial" panose="020B0604020202020204" pitchFamily="34" charset="0"/>
              <a:buChar char="•"/>
            </a:pPr>
            <a:r>
              <a:rPr lang="pt-BR" b="0" i="0" dirty="0">
                <a:effectLst/>
                <a:latin typeface="Source Serif Pro" panose="02040603050405020204" pitchFamily="18" charset="0"/>
                <a:ea typeface="Source Serif Pro" panose="02040603050405020204" pitchFamily="18" charset="0"/>
              </a:rPr>
              <a:t>O teste de software é uma maneira de avaliar a qualidade da aplicação e reduzir o risco de falha em operação.</a:t>
            </a:r>
          </a:p>
          <a:p>
            <a:pPr algn="l">
              <a:buFont typeface="Arial" panose="020B0604020202020204" pitchFamily="34" charset="0"/>
              <a:buChar char="•"/>
            </a:pPr>
            <a:r>
              <a:rPr lang="pt-BR" b="0" i="0" dirty="0">
                <a:effectLst/>
                <a:latin typeface="Source Serif Pro" panose="02040603050405020204" pitchFamily="18" charset="0"/>
                <a:ea typeface="Source Serif Pro" panose="02040603050405020204" pitchFamily="18" charset="0"/>
              </a:rPr>
              <a:t>Testar não consiste apenas em executar testes (executar o software e verificar os resultados). </a:t>
            </a:r>
            <a:r>
              <a:rPr lang="pt-BR" b="1" i="0" dirty="0">
                <a:effectLst/>
                <a:latin typeface="Source Serif Pro" panose="02040603050405020204" pitchFamily="18" charset="0"/>
                <a:ea typeface="Source Serif Pro" panose="02040603050405020204" pitchFamily="18" charset="0"/>
              </a:rPr>
              <a:t>Executar</a:t>
            </a:r>
            <a:r>
              <a:rPr lang="pt-BR" b="0" i="0" dirty="0">
                <a:effectLst/>
                <a:latin typeface="Source Serif Pro" panose="02040603050405020204" pitchFamily="18" charset="0"/>
                <a:ea typeface="Source Serif Pro" panose="02040603050405020204" pitchFamily="18" charset="0"/>
              </a:rPr>
              <a:t> testes é apenas umas das atividades.</a:t>
            </a:r>
          </a:p>
          <a:p>
            <a:pPr algn="l">
              <a:buFont typeface="Arial" panose="020B0604020202020204" pitchFamily="34" charset="0"/>
              <a:buChar char="•"/>
            </a:pPr>
            <a:r>
              <a:rPr lang="pt-BR" b="0" i="0" dirty="0">
                <a:effectLst/>
                <a:latin typeface="Source Serif Pro" panose="02040603050405020204" pitchFamily="18" charset="0"/>
                <a:ea typeface="Source Serif Pro" panose="02040603050405020204" pitchFamily="18" charset="0"/>
              </a:rPr>
              <a:t>Planejamento, análise, modelagem e implementação dos testes, relatórios de progresso, resultado e avaliação da qualidade, também são partes de um </a:t>
            </a:r>
            <a:r>
              <a:rPr lang="pt-BR" b="1" i="0" dirty="0">
                <a:effectLst/>
                <a:latin typeface="Source Serif Pro" panose="02040603050405020204" pitchFamily="18" charset="0"/>
                <a:ea typeface="Source Serif Pro" panose="02040603050405020204" pitchFamily="18" charset="0"/>
              </a:rPr>
              <a:t>processo de testes</a:t>
            </a:r>
            <a:r>
              <a:rPr lang="pt-BR" b="0" i="0" dirty="0">
                <a:effectLst/>
                <a:latin typeface="Source Serif Pro" panose="02040603050405020204" pitchFamily="18" charset="0"/>
                <a:ea typeface="Source Serif Pro" panose="02040603050405020204" pitchFamily="18" charset="0"/>
              </a:rPr>
              <a:t>.</a:t>
            </a:r>
          </a:p>
          <a:p>
            <a:pPr algn="l"/>
            <a:endParaRPr lang="pt-BR" b="0" i="0" dirty="0">
              <a:effectLst/>
              <a:latin typeface="Source Serif Pro" panose="02040603050405020204" pitchFamily="18" charset="0"/>
              <a:ea typeface="Source Serif Pro" panose="02040603050405020204" pitchFamily="18" charset="0"/>
            </a:endParaRPr>
          </a:p>
          <a:p>
            <a:pPr algn="l"/>
            <a:r>
              <a:rPr lang="pt-BR" b="0" i="1" dirty="0">
                <a:effectLst/>
                <a:latin typeface="Source Serif Pro" panose="02040603050405020204" pitchFamily="18" charset="0"/>
                <a:ea typeface="Source Serif Pro" panose="02040603050405020204" pitchFamily="18" charset="0"/>
              </a:rPr>
              <a:t>Testar software não é somente </a:t>
            </a:r>
            <a:r>
              <a:rPr lang="pt-BR" b="1" i="0" dirty="0">
                <a:effectLst/>
                <a:latin typeface="Source Serif Pro" panose="02040603050405020204" pitchFamily="18" charset="0"/>
                <a:ea typeface="Source Serif Pro" panose="02040603050405020204" pitchFamily="18" charset="0"/>
              </a:rPr>
              <a:t>verificar </a:t>
            </a:r>
            <a:r>
              <a:rPr lang="pt-BR" b="0" i="1" dirty="0">
                <a:effectLst/>
                <a:latin typeface="Source Serif Pro" panose="02040603050405020204" pitchFamily="18" charset="0"/>
                <a:ea typeface="Source Serif Pro" panose="02040603050405020204" pitchFamily="18" charset="0"/>
              </a:rPr>
              <a:t>se os requisitos foram atendidos ou se as estórias de usuário (</a:t>
            </a:r>
            <a:r>
              <a:rPr lang="pt-BR" b="0" i="1" dirty="0" err="1">
                <a:effectLst/>
                <a:latin typeface="Source Serif Pro" panose="02040603050405020204" pitchFamily="18" charset="0"/>
                <a:ea typeface="Source Serif Pro" panose="02040603050405020204" pitchFamily="18" charset="0"/>
              </a:rPr>
              <a:t>User</a:t>
            </a:r>
            <a:r>
              <a:rPr lang="pt-BR" b="0" i="1" dirty="0">
                <a:effectLst/>
                <a:latin typeface="Source Serif Pro" panose="02040603050405020204" pitchFamily="18" charset="0"/>
                <a:ea typeface="Source Serif Pro" panose="02040603050405020204" pitchFamily="18" charset="0"/>
              </a:rPr>
              <a:t> Stories), bem como demais especificações, foram contempladas. Atribui-se ao teste de software também a </a:t>
            </a:r>
            <a:r>
              <a:rPr lang="pt-BR" b="1" i="0" dirty="0">
                <a:effectLst/>
                <a:latin typeface="Source Serif Pro" panose="02040603050405020204" pitchFamily="18" charset="0"/>
                <a:ea typeface="Source Serif Pro" panose="02040603050405020204" pitchFamily="18" charset="0"/>
              </a:rPr>
              <a:t>validação</a:t>
            </a:r>
            <a:r>
              <a:rPr lang="pt-BR" b="0" i="1" dirty="0">
                <a:effectLst/>
                <a:latin typeface="Source Serif Pro" panose="02040603050405020204" pitchFamily="18" charset="0"/>
                <a:ea typeface="Source Serif Pro" panose="02040603050405020204" pitchFamily="18" charset="0"/>
              </a:rPr>
              <a:t>, ou seja, verificar se o sistema atenderá às necessidades do usuário e de outras partes interessadas em seu(s) ambiente(s) operacional(is).</a:t>
            </a:r>
            <a:endParaRPr lang="pt-BR" b="0" i="0" dirty="0">
              <a:effectLst/>
              <a:latin typeface="Source Serif Pro" panose="02040603050405020204" pitchFamily="18" charset="0"/>
              <a:ea typeface="Source Serif Pro" panose="02040603050405020204" pitchFamily="18" charset="0"/>
            </a:endParaRPr>
          </a:p>
          <a:p>
            <a:pPr algn="l"/>
            <a:endParaRPr lang="pt-BR" b="0" i="0" dirty="0">
              <a:solidFill>
                <a:srgbClr val="253A44"/>
              </a:solidFill>
              <a:effectLst/>
              <a:latin typeface="Source Serif Pro" panose="02040603050405020204" pitchFamily="18" charset="0"/>
              <a:ea typeface="Source Serif Pro" panose="02040603050405020204" pitchFamily="18" charset="0"/>
            </a:endParaRPr>
          </a:p>
          <a:p>
            <a:endParaRPr lang="pt-BR" dirty="0">
              <a:solidFill>
                <a:srgbClr val="253A44"/>
              </a:solidFill>
              <a:latin typeface="Source Serif Pro" panose="02040603050405020204" pitchFamily="18" charset="0"/>
              <a:ea typeface="Source Serif Pro" panose="02040603050405020204" pitchFamily="18" charset="0"/>
            </a:endParaRPr>
          </a:p>
          <a:p>
            <a:endParaRPr lang="pt-BR" dirty="0">
              <a:solidFill>
                <a:srgbClr val="253A44"/>
              </a:solidFill>
              <a:latin typeface="Source Serif Pro" panose="02040603050405020204" pitchFamily="18" charset="0"/>
              <a:ea typeface="Source Serif Pro" panose="02040603050405020204" pitchFamily="18" charset="0"/>
            </a:endParaRPr>
          </a:p>
        </p:txBody>
      </p:sp>
    </p:spTree>
    <p:extLst>
      <p:ext uri="{BB962C8B-B14F-4D97-AF65-F5344CB8AC3E}">
        <p14:creationId xmlns:p14="http://schemas.microsoft.com/office/powerpoint/2010/main" val="3472136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519603"/>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Teste de Software– Tipos</a:t>
            </a:r>
            <a:endParaRPr sz="2400" b="0" i="0" u="none" strike="noStrike" cap="none" dirty="0">
              <a:solidFill>
                <a:schemeClr val="dk1"/>
              </a:solidFill>
              <a:latin typeface="Times New Roman"/>
              <a:ea typeface="Times New Roman"/>
              <a:cs typeface="Times New Roman"/>
              <a:sym typeface="Times New Roman"/>
            </a:endParaRPr>
          </a:p>
        </p:txBody>
      </p:sp>
      <p:sp>
        <p:nvSpPr>
          <p:cNvPr id="4" name="CaixaDeTexto 3">
            <a:extLst>
              <a:ext uri="{FF2B5EF4-FFF2-40B4-BE49-F238E27FC236}">
                <a16:creationId xmlns:a16="http://schemas.microsoft.com/office/drawing/2014/main" id="{6A124AC4-DA8D-1ADE-370D-84FBEE84B287}"/>
              </a:ext>
            </a:extLst>
          </p:cNvPr>
          <p:cNvSpPr txBox="1"/>
          <p:nvPr/>
        </p:nvSpPr>
        <p:spPr>
          <a:xfrm>
            <a:off x="1669926" y="1232922"/>
            <a:ext cx="6569532" cy="738664"/>
          </a:xfrm>
          <a:prstGeom prst="rect">
            <a:avLst/>
          </a:prstGeom>
          <a:noFill/>
        </p:spPr>
        <p:txBody>
          <a:bodyPr wrap="square" rtlCol="0">
            <a:spAutoFit/>
          </a:bodyPr>
          <a:lstStyle/>
          <a:p>
            <a:pPr algn="l"/>
            <a:endParaRPr lang="pt-BR" b="0" i="0" dirty="0">
              <a:solidFill>
                <a:srgbClr val="253A44"/>
              </a:solidFill>
              <a:effectLst/>
              <a:latin typeface="Source Serif Pro" panose="02040603050405020204" pitchFamily="18" charset="0"/>
              <a:ea typeface="Source Serif Pro" panose="02040603050405020204" pitchFamily="18" charset="0"/>
            </a:endParaRPr>
          </a:p>
          <a:p>
            <a:endParaRPr lang="pt-BR" dirty="0">
              <a:solidFill>
                <a:srgbClr val="253A44"/>
              </a:solidFill>
              <a:latin typeface="Source Serif Pro" panose="02040603050405020204" pitchFamily="18" charset="0"/>
              <a:ea typeface="Source Serif Pro" panose="02040603050405020204" pitchFamily="18" charset="0"/>
            </a:endParaRPr>
          </a:p>
          <a:p>
            <a:endParaRPr lang="pt-BR" dirty="0">
              <a:solidFill>
                <a:srgbClr val="253A44"/>
              </a:solidFill>
              <a:latin typeface="Source Serif Pro" panose="02040603050405020204" pitchFamily="18" charset="0"/>
              <a:ea typeface="Source Serif Pro" panose="02040603050405020204" pitchFamily="18" charset="0"/>
            </a:endParaRPr>
          </a:p>
        </p:txBody>
      </p:sp>
      <p:pic>
        <p:nvPicPr>
          <p:cNvPr id="1026" name="Picture 2" descr="Image for post">
            <a:extLst>
              <a:ext uri="{FF2B5EF4-FFF2-40B4-BE49-F238E27FC236}">
                <a16:creationId xmlns:a16="http://schemas.microsoft.com/office/drawing/2014/main" id="{87F9C0CE-508E-1852-CB63-835AB63773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7475" y="1898743"/>
            <a:ext cx="3829050" cy="213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8486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519603"/>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Teste de Software – Etapas</a:t>
            </a:r>
            <a:endParaRPr sz="2400" b="0" i="0" u="none" strike="noStrike" cap="none" dirty="0">
              <a:solidFill>
                <a:schemeClr val="dk1"/>
              </a:solidFill>
              <a:latin typeface="Times New Roman"/>
              <a:ea typeface="Times New Roman"/>
              <a:cs typeface="Times New Roman"/>
              <a:sym typeface="Times New Roman"/>
            </a:endParaRPr>
          </a:p>
        </p:txBody>
      </p:sp>
      <p:sp>
        <p:nvSpPr>
          <p:cNvPr id="4" name="CaixaDeTexto 3">
            <a:extLst>
              <a:ext uri="{FF2B5EF4-FFF2-40B4-BE49-F238E27FC236}">
                <a16:creationId xmlns:a16="http://schemas.microsoft.com/office/drawing/2014/main" id="{6A124AC4-DA8D-1ADE-370D-84FBEE84B287}"/>
              </a:ext>
            </a:extLst>
          </p:cNvPr>
          <p:cNvSpPr txBox="1"/>
          <p:nvPr/>
        </p:nvSpPr>
        <p:spPr>
          <a:xfrm>
            <a:off x="1669926" y="1232922"/>
            <a:ext cx="6569532" cy="2462213"/>
          </a:xfrm>
          <a:prstGeom prst="rect">
            <a:avLst/>
          </a:prstGeom>
          <a:noFill/>
        </p:spPr>
        <p:txBody>
          <a:bodyPr wrap="square" rtlCol="0">
            <a:spAutoFit/>
          </a:bodyPr>
          <a:lstStyle/>
          <a:p>
            <a:pPr algn="l"/>
            <a:r>
              <a:rPr lang="pt-BR" b="0" i="0" dirty="0">
                <a:solidFill>
                  <a:schemeClr val="tx1"/>
                </a:solidFill>
                <a:effectLst/>
                <a:latin typeface="Source Serif Pro" panose="02040603050405020204" pitchFamily="18" charset="0"/>
                <a:ea typeface="Source Serif Pro" panose="02040603050405020204" pitchFamily="18" charset="0"/>
              </a:rPr>
              <a:t>Para que o teste de software funcione, é preciso que os organizadores estabeleçam uma série de passos dentro de sua execução. O primeiro deles é o planejamento, que diz respeito ao momento em que será escolhido qual tipo de teste será realizado e em qual software. </a:t>
            </a:r>
          </a:p>
          <a:p>
            <a:pPr algn="l"/>
            <a:endParaRPr lang="pt-BR" b="0" i="0" dirty="0">
              <a:solidFill>
                <a:schemeClr val="tx1"/>
              </a:solidFill>
              <a:effectLst/>
              <a:latin typeface="Source Serif Pro" panose="02040603050405020204" pitchFamily="18" charset="0"/>
              <a:ea typeface="Source Serif Pro" panose="02040603050405020204" pitchFamily="18" charset="0"/>
            </a:endParaRPr>
          </a:p>
          <a:p>
            <a:pPr algn="l"/>
            <a:r>
              <a:rPr lang="pt-BR" b="0" i="0" dirty="0">
                <a:solidFill>
                  <a:schemeClr val="tx1"/>
                </a:solidFill>
                <a:effectLst/>
                <a:latin typeface="Source Serif Pro" panose="02040603050405020204" pitchFamily="18" charset="0"/>
                <a:ea typeface="Source Serif Pro" panose="02040603050405020204" pitchFamily="18" charset="0"/>
              </a:rPr>
              <a:t>Após isso, é feita a modelagem do teste, que além do planejamento, leva em consideração todos os aspectos da empresa que podem, de alguma forma, interferir no resultado dos testes. Por último, vem a execução.</a:t>
            </a:r>
          </a:p>
          <a:p>
            <a:pPr algn="l"/>
            <a:endParaRPr lang="pt-BR" b="0" i="0" dirty="0">
              <a:solidFill>
                <a:srgbClr val="253A44"/>
              </a:solidFill>
              <a:effectLst/>
              <a:latin typeface="Source Serif Pro" panose="02040603050405020204" pitchFamily="18" charset="0"/>
              <a:ea typeface="Source Serif Pro" panose="02040603050405020204" pitchFamily="18" charset="0"/>
            </a:endParaRPr>
          </a:p>
          <a:p>
            <a:endParaRPr lang="pt-BR" dirty="0">
              <a:solidFill>
                <a:srgbClr val="253A44"/>
              </a:solidFill>
              <a:latin typeface="Source Serif Pro" panose="02040603050405020204" pitchFamily="18" charset="0"/>
              <a:ea typeface="Source Serif Pro" panose="02040603050405020204" pitchFamily="18" charset="0"/>
            </a:endParaRPr>
          </a:p>
          <a:p>
            <a:endParaRPr lang="pt-BR" dirty="0">
              <a:solidFill>
                <a:srgbClr val="253A44"/>
              </a:solidFill>
              <a:latin typeface="Source Serif Pro" panose="02040603050405020204" pitchFamily="18" charset="0"/>
              <a:ea typeface="Source Serif Pro" panose="02040603050405020204" pitchFamily="18" charset="0"/>
            </a:endParaRPr>
          </a:p>
        </p:txBody>
      </p:sp>
    </p:spTree>
    <p:extLst>
      <p:ext uri="{BB962C8B-B14F-4D97-AF65-F5344CB8AC3E}">
        <p14:creationId xmlns:p14="http://schemas.microsoft.com/office/powerpoint/2010/main" val="2570274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519603"/>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Teste de Software – Tipos</a:t>
            </a:r>
            <a:endParaRPr sz="2400" b="0" i="0" u="none" strike="noStrike" cap="none" dirty="0">
              <a:solidFill>
                <a:schemeClr val="dk1"/>
              </a:solidFill>
              <a:latin typeface="Times New Roman"/>
              <a:ea typeface="Times New Roman"/>
              <a:cs typeface="Times New Roman"/>
              <a:sym typeface="Times New Roman"/>
            </a:endParaRPr>
          </a:p>
        </p:txBody>
      </p:sp>
      <p:sp>
        <p:nvSpPr>
          <p:cNvPr id="4" name="CaixaDeTexto 3">
            <a:extLst>
              <a:ext uri="{FF2B5EF4-FFF2-40B4-BE49-F238E27FC236}">
                <a16:creationId xmlns:a16="http://schemas.microsoft.com/office/drawing/2014/main" id="{6A124AC4-DA8D-1ADE-370D-84FBEE84B287}"/>
              </a:ext>
            </a:extLst>
          </p:cNvPr>
          <p:cNvSpPr txBox="1"/>
          <p:nvPr/>
        </p:nvSpPr>
        <p:spPr>
          <a:xfrm>
            <a:off x="1669926" y="1232922"/>
            <a:ext cx="6569532" cy="2462213"/>
          </a:xfrm>
          <a:prstGeom prst="rect">
            <a:avLst/>
          </a:prstGeom>
          <a:noFill/>
        </p:spPr>
        <p:txBody>
          <a:bodyPr wrap="square" rtlCol="0">
            <a:spAutoFit/>
          </a:bodyPr>
          <a:lstStyle/>
          <a:p>
            <a:pPr algn="l"/>
            <a:r>
              <a:rPr lang="pt-BR" b="0" i="0" dirty="0">
                <a:solidFill>
                  <a:schemeClr val="tx1"/>
                </a:solidFill>
                <a:effectLst/>
                <a:latin typeface="Source Serif Pro" panose="02040603050405020204" pitchFamily="18" charset="0"/>
                <a:ea typeface="Source Serif Pro" panose="02040603050405020204" pitchFamily="18" charset="0"/>
              </a:rPr>
              <a:t>Existem, de uma forma geral, cerca de 17 tipos diferentes de testes de software e a diferenciação deles serve para que consigam se adequar melhor ao tipo de softwares que eles irão testar. </a:t>
            </a:r>
          </a:p>
          <a:p>
            <a:pPr algn="l"/>
            <a:endParaRPr lang="pt-BR" b="0" i="0" dirty="0">
              <a:solidFill>
                <a:schemeClr val="tx1"/>
              </a:solidFill>
              <a:effectLst/>
              <a:latin typeface="Source Serif Pro" panose="02040603050405020204" pitchFamily="18" charset="0"/>
              <a:ea typeface="Source Serif Pro" panose="02040603050405020204" pitchFamily="18" charset="0"/>
            </a:endParaRPr>
          </a:p>
          <a:p>
            <a:pPr algn="l"/>
            <a:r>
              <a:rPr lang="pt-BR" b="0" i="0" dirty="0">
                <a:solidFill>
                  <a:schemeClr val="tx1"/>
                </a:solidFill>
                <a:effectLst/>
                <a:latin typeface="Source Serif Pro" panose="02040603050405020204" pitchFamily="18" charset="0"/>
                <a:ea typeface="Source Serif Pro" panose="02040603050405020204" pitchFamily="18" charset="0"/>
              </a:rPr>
              <a:t>Os tipos de testes de software são: de unidade, integração, operacional, positivo-negativo, regressão, caixa-preta, caixa-branca, funcional, interface, performance, carga, aceitação do usuário, volume, stress, configuração, instalação e segurança.</a:t>
            </a:r>
          </a:p>
          <a:p>
            <a:pPr algn="l"/>
            <a:endParaRPr lang="pt-BR" b="0" i="0" dirty="0">
              <a:solidFill>
                <a:srgbClr val="253A44"/>
              </a:solidFill>
              <a:effectLst/>
              <a:latin typeface="Source Serif Pro" panose="02040603050405020204" pitchFamily="18" charset="0"/>
              <a:ea typeface="Source Serif Pro" panose="02040603050405020204" pitchFamily="18" charset="0"/>
            </a:endParaRPr>
          </a:p>
          <a:p>
            <a:endParaRPr lang="pt-BR" dirty="0">
              <a:solidFill>
                <a:srgbClr val="253A44"/>
              </a:solidFill>
              <a:latin typeface="Source Serif Pro" panose="02040603050405020204" pitchFamily="18" charset="0"/>
              <a:ea typeface="Source Serif Pro" panose="02040603050405020204" pitchFamily="18" charset="0"/>
            </a:endParaRPr>
          </a:p>
          <a:p>
            <a:endParaRPr lang="pt-BR" dirty="0">
              <a:solidFill>
                <a:srgbClr val="253A44"/>
              </a:solidFill>
              <a:latin typeface="Source Serif Pro" panose="02040603050405020204" pitchFamily="18" charset="0"/>
              <a:ea typeface="Source Serif Pro" panose="02040603050405020204" pitchFamily="18" charset="0"/>
            </a:endParaRPr>
          </a:p>
        </p:txBody>
      </p:sp>
    </p:spTree>
    <p:extLst>
      <p:ext uri="{BB962C8B-B14F-4D97-AF65-F5344CB8AC3E}">
        <p14:creationId xmlns:p14="http://schemas.microsoft.com/office/powerpoint/2010/main" val="12611750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519603"/>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Teste de Software – Tipos</a:t>
            </a:r>
            <a:endParaRPr sz="2400" b="0" i="0" u="none" strike="noStrike" cap="none" dirty="0">
              <a:solidFill>
                <a:schemeClr val="dk1"/>
              </a:solidFill>
              <a:latin typeface="Times New Roman"/>
              <a:ea typeface="Times New Roman"/>
              <a:cs typeface="Times New Roman"/>
              <a:sym typeface="Times New Roman"/>
            </a:endParaRPr>
          </a:p>
        </p:txBody>
      </p:sp>
      <p:sp>
        <p:nvSpPr>
          <p:cNvPr id="4" name="CaixaDeTexto 3">
            <a:extLst>
              <a:ext uri="{FF2B5EF4-FFF2-40B4-BE49-F238E27FC236}">
                <a16:creationId xmlns:a16="http://schemas.microsoft.com/office/drawing/2014/main" id="{6A124AC4-DA8D-1ADE-370D-84FBEE84B287}"/>
              </a:ext>
            </a:extLst>
          </p:cNvPr>
          <p:cNvSpPr txBox="1"/>
          <p:nvPr/>
        </p:nvSpPr>
        <p:spPr>
          <a:xfrm>
            <a:off x="1669926" y="1232922"/>
            <a:ext cx="6569532" cy="3323987"/>
          </a:xfrm>
          <a:prstGeom prst="rect">
            <a:avLst/>
          </a:prstGeom>
          <a:noFill/>
        </p:spPr>
        <p:txBody>
          <a:bodyPr wrap="square" rtlCol="0">
            <a:spAutoFit/>
          </a:bodyPr>
          <a:lstStyle/>
          <a:p>
            <a:pPr algn="just"/>
            <a:r>
              <a:rPr lang="pt-BR" b="1" i="0" dirty="0">
                <a:solidFill>
                  <a:schemeClr val="tx1"/>
                </a:solidFill>
                <a:effectLst/>
                <a:latin typeface="Roboto" panose="02000000000000000000" pitchFamily="2" charset="0"/>
              </a:rPr>
              <a:t>– Teste da caixa branca</a:t>
            </a:r>
            <a:r>
              <a:rPr lang="pt-BR" b="0" i="0" dirty="0">
                <a:solidFill>
                  <a:schemeClr val="tx1"/>
                </a:solidFill>
                <a:effectLst/>
                <a:latin typeface="Roboto" panose="02000000000000000000" pitchFamily="2" charset="0"/>
              </a:rPr>
              <a:t> – utiliza o aspecto interno do programa/sistema, o código fonte, para avaliar seus componentes. Ele também é conhecido como teste orientado à lógica ou estrutural. Podem ser analisados itens como: fluxo dos dados, condição, ciclos etc. Na hora de implementá-lo é preciso verificar a criticidade, a complexidade, a estrutura e o nível de qualidade que se pretende obter do programa, envolvendo confiança e segurança;</a:t>
            </a:r>
          </a:p>
          <a:p>
            <a:pPr algn="just"/>
            <a:endParaRPr lang="pt-BR" b="0" i="0" dirty="0">
              <a:solidFill>
                <a:schemeClr val="tx1"/>
              </a:solidFill>
              <a:effectLst/>
              <a:latin typeface="Roboto" panose="02000000000000000000" pitchFamily="2" charset="0"/>
            </a:endParaRPr>
          </a:p>
          <a:p>
            <a:pPr algn="just"/>
            <a:r>
              <a:rPr lang="pt-BR" b="0" i="0" dirty="0">
                <a:solidFill>
                  <a:schemeClr val="tx1"/>
                </a:solidFill>
                <a:effectLst/>
                <a:latin typeface="Roboto" panose="02000000000000000000" pitchFamily="2" charset="0"/>
              </a:rPr>
              <a:t>– </a:t>
            </a:r>
            <a:r>
              <a:rPr lang="pt-BR" b="1" i="0" dirty="0">
                <a:solidFill>
                  <a:schemeClr val="tx1"/>
                </a:solidFill>
                <a:effectLst/>
                <a:latin typeface="Roboto" panose="02000000000000000000" pitchFamily="2" charset="0"/>
              </a:rPr>
              <a:t>Teste da caixa preta</a:t>
            </a:r>
            <a:r>
              <a:rPr lang="pt-BR" b="0" i="0" dirty="0">
                <a:solidFill>
                  <a:schemeClr val="tx1"/>
                </a:solidFill>
                <a:effectLst/>
                <a:latin typeface="Roboto" panose="02000000000000000000" pitchFamily="2" charset="0"/>
              </a:rPr>
              <a:t> – diferente do teste anterior, que prioriza os aspectos internos, o teste da caixa preta verifica aspectos externos. Os requisitos funcionais do sistema são avaliados. Não se observa o modo de funcionamento, sua operação, tendo como foco as funções que deverão ser desempenhadas pelo programa. Desse modo, avalia-se se um grupo de entrada de dados resultou nas saídas pretendidas, levando-se em consideração a especificação do programa. Ou seja, o que se esperava que o software deveria fazer. É conhecido também como técnica funcional;</a:t>
            </a:r>
          </a:p>
        </p:txBody>
      </p:sp>
    </p:spTree>
    <p:extLst>
      <p:ext uri="{BB962C8B-B14F-4D97-AF65-F5344CB8AC3E}">
        <p14:creationId xmlns:p14="http://schemas.microsoft.com/office/powerpoint/2010/main" val="666936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519603"/>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Teste de Software – Tipos</a:t>
            </a:r>
            <a:endParaRPr sz="2400" b="0" i="0" u="none" strike="noStrike" cap="none" dirty="0">
              <a:solidFill>
                <a:schemeClr val="dk1"/>
              </a:solidFill>
              <a:latin typeface="Times New Roman"/>
              <a:ea typeface="Times New Roman"/>
              <a:cs typeface="Times New Roman"/>
              <a:sym typeface="Times New Roman"/>
            </a:endParaRPr>
          </a:p>
        </p:txBody>
      </p:sp>
      <p:sp>
        <p:nvSpPr>
          <p:cNvPr id="4" name="CaixaDeTexto 3">
            <a:extLst>
              <a:ext uri="{FF2B5EF4-FFF2-40B4-BE49-F238E27FC236}">
                <a16:creationId xmlns:a16="http://schemas.microsoft.com/office/drawing/2014/main" id="{6A124AC4-DA8D-1ADE-370D-84FBEE84B287}"/>
              </a:ext>
            </a:extLst>
          </p:cNvPr>
          <p:cNvSpPr txBox="1"/>
          <p:nvPr/>
        </p:nvSpPr>
        <p:spPr>
          <a:xfrm>
            <a:off x="1669926" y="1232922"/>
            <a:ext cx="6569532" cy="3539430"/>
          </a:xfrm>
          <a:prstGeom prst="rect">
            <a:avLst/>
          </a:prstGeom>
          <a:noFill/>
        </p:spPr>
        <p:txBody>
          <a:bodyPr wrap="square" rtlCol="0">
            <a:spAutoFit/>
          </a:bodyPr>
          <a:lstStyle/>
          <a:p>
            <a:pPr algn="just"/>
            <a:r>
              <a:rPr lang="pt-BR" b="0" i="0" dirty="0">
                <a:solidFill>
                  <a:schemeClr val="tx1"/>
                </a:solidFill>
                <a:effectLst/>
                <a:latin typeface="Source Serif Pro" panose="02040603050405020204" pitchFamily="18" charset="0"/>
                <a:ea typeface="Source Serif Pro" panose="02040603050405020204" pitchFamily="18" charset="0"/>
              </a:rPr>
              <a:t>– </a:t>
            </a:r>
            <a:r>
              <a:rPr lang="pt-BR" b="1" i="0" dirty="0">
                <a:solidFill>
                  <a:schemeClr val="tx1"/>
                </a:solidFill>
                <a:effectLst/>
                <a:latin typeface="Source Serif Pro" panose="02040603050405020204" pitchFamily="18" charset="0"/>
                <a:ea typeface="Source Serif Pro" panose="02040603050405020204" pitchFamily="18" charset="0"/>
              </a:rPr>
              <a:t>Teste da caixa cinza</a:t>
            </a:r>
            <a:r>
              <a:rPr lang="pt-BR" b="0" i="0" dirty="0">
                <a:solidFill>
                  <a:schemeClr val="tx1"/>
                </a:solidFill>
                <a:effectLst/>
                <a:latin typeface="Source Serif Pro" panose="02040603050405020204" pitchFamily="18" charset="0"/>
                <a:ea typeface="Source Serif Pro" panose="02040603050405020204" pitchFamily="18" charset="0"/>
              </a:rPr>
              <a:t> – esse tipo de teste une os dois anteriores, por isso o termo “cinza”. Avalia tanto os aspectos internos quanto os externos, de entrada e saída. Pode utilizar-se de engenharia reversa;</a:t>
            </a:r>
          </a:p>
          <a:p>
            <a:pPr algn="just"/>
            <a:endParaRPr lang="pt-BR" b="0" i="0" dirty="0">
              <a:solidFill>
                <a:schemeClr val="tx1"/>
              </a:solidFill>
              <a:effectLst/>
              <a:latin typeface="Source Serif Pro" panose="02040603050405020204" pitchFamily="18" charset="0"/>
              <a:ea typeface="Source Serif Pro" panose="02040603050405020204" pitchFamily="18" charset="0"/>
            </a:endParaRPr>
          </a:p>
          <a:p>
            <a:pPr algn="just"/>
            <a:r>
              <a:rPr lang="pt-BR" b="0" i="0" dirty="0">
                <a:solidFill>
                  <a:schemeClr val="tx1"/>
                </a:solidFill>
                <a:effectLst/>
                <a:latin typeface="Source Serif Pro" panose="02040603050405020204" pitchFamily="18" charset="0"/>
                <a:ea typeface="Source Serif Pro" panose="02040603050405020204" pitchFamily="18" charset="0"/>
              </a:rPr>
              <a:t>– </a:t>
            </a:r>
            <a:r>
              <a:rPr lang="pt-BR" b="1" i="0" dirty="0">
                <a:solidFill>
                  <a:schemeClr val="tx1"/>
                </a:solidFill>
                <a:effectLst/>
                <a:latin typeface="Source Serif Pro" panose="02040603050405020204" pitchFamily="18" charset="0"/>
                <a:ea typeface="Source Serif Pro" panose="02040603050405020204" pitchFamily="18" charset="0"/>
              </a:rPr>
              <a:t>Teste de regressão</a:t>
            </a:r>
            <a:r>
              <a:rPr lang="pt-BR" b="0" i="0" dirty="0">
                <a:solidFill>
                  <a:schemeClr val="tx1"/>
                </a:solidFill>
                <a:effectLst/>
                <a:latin typeface="Source Serif Pro" panose="02040603050405020204" pitchFamily="18" charset="0"/>
                <a:ea typeface="Source Serif Pro" panose="02040603050405020204" pitchFamily="18" charset="0"/>
              </a:rPr>
              <a:t> – esse consiste em realizar testes a cada versão de um software, onde se modificam-se funcionalidades. Desse modo, evita-se que erros que foram corrigidos antes no software antes voltem a aparecer na hora de se incrementar algo novo a ele.</a:t>
            </a:r>
          </a:p>
          <a:p>
            <a:pPr algn="just"/>
            <a:endParaRPr lang="pt-BR" b="0" i="0" dirty="0">
              <a:solidFill>
                <a:schemeClr val="tx1"/>
              </a:solidFill>
              <a:effectLst/>
              <a:latin typeface="Source Serif Pro" panose="02040603050405020204" pitchFamily="18" charset="0"/>
              <a:ea typeface="Source Serif Pro" panose="02040603050405020204" pitchFamily="18" charset="0"/>
            </a:endParaRPr>
          </a:p>
          <a:p>
            <a:pPr algn="just"/>
            <a:r>
              <a:rPr lang="pt-BR" b="0" i="0" dirty="0">
                <a:solidFill>
                  <a:schemeClr val="tx1"/>
                </a:solidFill>
                <a:effectLst/>
                <a:latin typeface="Source Serif Pro" panose="02040603050405020204" pitchFamily="18" charset="0"/>
                <a:ea typeface="Source Serif Pro" panose="02040603050405020204" pitchFamily="18" charset="0"/>
              </a:rPr>
              <a:t>– </a:t>
            </a:r>
            <a:r>
              <a:rPr lang="pt-BR" b="1" i="0" dirty="0">
                <a:solidFill>
                  <a:schemeClr val="tx1"/>
                </a:solidFill>
                <a:effectLst/>
                <a:latin typeface="Source Serif Pro" panose="02040603050405020204" pitchFamily="18" charset="0"/>
                <a:ea typeface="Source Serif Pro" panose="02040603050405020204" pitchFamily="18" charset="0"/>
              </a:rPr>
              <a:t>Teste de unidade</a:t>
            </a:r>
            <a:r>
              <a:rPr lang="pt-BR" b="0" i="0" dirty="0">
                <a:solidFill>
                  <a:schemeClr val="tx1"/>
                </a:solidFill>
                <a:effectLst/>
                <a:latin typeface="Source Serif Pro" panose="02040603050405020204" pitchFamily="18" charset="0"/>
                <a:ea typeface="Source Serif Pro" panose="02040603050405020204" pitchFamily="18" charset="0"/>
              </a:rPr>
              <a:t> – testa-se unidades menores de um software, de modo isolado, para ver se todas funcionam adequadamente;</a:t>
            </a:r>
          </a:p>
          <a:p>
            <a:pPr algn="just"/>
            <a:endParaRPr lang="pt-BR" b="0" i="0" dirty="0">
              <a:solidFill>
                <a:schemeClr val="tx1"/>
              </a:solidFill>
              <a:effectLst/>
              <a:latin typeface="Source Serif Pro" panose="02040603050405020204" pitchFamily="18" charset="0"/>
              <a:ea typeface="Source Serif Pro" panose="02040603050405020204" pitchFamily="18" charset="0"/>
            </a:endParaRPr>
          </a:p>
          <a:p>
            <a:pPr algn="just"/>
            <a:r>
              <a:rPr lang="pt-BR" b="0" i="0" dirty="0">
                <a:solidFill>
                  <a:schemeClr val="tx1"/>
                </a:solidFill>
                <a:effectLst/>
                <a:latin typeface="Source Serif Pro" panose="02040603050405020204" pitchFamily="18" charset="0"/>
                <a:ea typeface="Source Serif Pro" panose="02040603050405020204" pitchFamily="18" charset="0"/>
              </a:rPr>
              <a:t>– </a:t>
            </a:r>
            <a:r>
              <a:rPr lang="pt-BR" b="1" i="0" dirty="0">
                <a:solidFill>
                  <a:schemeClr val="tx1"/>
                </a:solidFill>
                <a:effectLst/>
                <a:latin typeface="Source Serif Pro" panose="02040603050405020204" pitchFamily="18" charset="0"/>
                <a:ea typeface="Source Serif Pro" panose="02040603050405020204" pitchFamily="18" charset="0"/>
              </a:rPr>
              <a:t>Teste de integração</a:t>
            </a:r>
            <a:r>
              <a:rPr lang="pt-BR" b="0" i="0" dirty="0">
                <a:solidFill>
                  <a:schemeClr val="tx1"/>
                </a:solidFill>
                <a:effectLst/>
                <a:latin typeface="Source Serif Pro" panose="02040603050405020204" pitchFamily="18" charset="0"/>
                <a:ea typeface="Source Serif Pro" panose="02040603050405020204" pitchFamily="18" charset="0"/>
              </a:rPr>
              <a:t> – depois das unidades testadas, realiza-se uma verificação se elas funcionam juntas, integradas. Pode ocorrer delas apresentarem incompatibilidades ao funcionarem em conjunto, mesmo após terem sido aprovadas no teste de unidade;</a:t>
            </a:r>
          </a:p>
        </p:txBody>
      </p:sp>
    </p:spTree>
    <p:extLst>
      <p:ext uri="{BB962C8B-B14F-4D97-AF65-F5344CB8AC3E}">
        <p14:creationId xmlns:p14="http://schemas.microsoft.com/office/powerpoint/2010/main" val="3981117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519603"/>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Teste de Software – Tipos</a:t>
            </a:r>
            <a:endParaRPr sz="2400" b="0" i="0" u="none" strike="noStrike" cap="none" dirty="0">
              <a:solidFill>
                <a:schemeClr val="dk1"/>
              </a:solidFill>
              <a:latin typeface="Times New Roman"/>
              <a:ea typeface="Times New Roman"/>
              <a:cs typeface="Times New Roman"/>
              <a:sym typeface="Times New Roman"/>
            </a:endParaRPr>
          </a:p>
        </p:txBody>
      </p:sp>
      <p:sp>
        <p:nvSpPr>
          <p:cNvPr id="4" name="CaixaDeTexto 3">
            <a:extLst>
              <a:ext uri="{FF2B5EF4-FFF2-40B4-BE49-F238E27FC236}">
                <a16:creationId xmlns:a16="http://schemas.microsoft.com/office/drawing/2014/main" id="{6A124AC4-DA8D-1ADE-370D-84FBEE84B287}"/>
              </a:ext>
            </a:extLst>
          </p:cNvPr>
          <p:cNvSpPr txBox="1"/>
          <p:nvPr/>
        </p:nvSpPr>
        <p:spPr>
          <a:xfrm>
            <a:off x="1669926" y="1232922"/>
            <a:ext cx="6569532" cy="3108543"/>
          </a:xfrm>
          <a:prstGeom prst="rect">
            <a:avLst/>
          </a:prstGeom>
          <a:noFill/>
        </p:spPr>
        <p:txBody>
          <a:bodyPr wrap="square" rtlCol="0">
            <a:spAutoFit/>
          </a:bodyPr>
          <a:lstStyle/>
          <a:p>
            <a:pPr algn="just"/>
            <a:r>
              <a:rPr lang="pt-BR" b="0" i="0" dirty="0">
                <a:solidFill>
                  <a:schemeClr val="tx1"/>
                </a:solidFill>
                <a:effectLst/>
                <a:latin typeface="Source Serif Pro" panose="02040603050405020204" pitchFamily="18" charset="0"/>
                <a:ea typeface="Source Serif Pro" panose="02040603050405020204" pitchFamily="18" charset="0"/>
              </a:rPr>
              <a:t>– </a:t>
            </a:r>
            <a:r>
              <a:rPr lang="pt-BR" b="1" i="0" dirty="0">
                <a:solidFill>
                  <a:schemeClr val="tx1"/>
                </a:solidFill>
                <a:effectLst/>
                <a:latin typeface="Source Serif Pro" panose="02040603050405020204" pitchFamily="18" charset="0"/>
                <a:ea typeface="Source Serif Pro" panose="02040603050405020204" pitchFamily="18" charset="0"/>
              </a:rPr>
              <a:t>Teste de carga</a:t>
            </a:r>
            <a:r>
              <a:rPr lang="pt-BR" b="0" i="0" dirty="0">
                <a:solidFill>
                  <a:schemeClr val="tx1"/>
                </a:solidFill>
                <a:effectLst/>
                <a:latin typeface="Source Serif Pro" panose="02040603050405020204" pitchFamily="18" charset="0"/>
                <a:ea typeface="Source Serif Pro" panose="02040603050405020204" pitchFamily="18" charset="0"/>
              </a:rPr>
              <a:t> – esse teste é feito para avaliar os limites de uso do software, o quanto ele suporta em volume de informações, tráfego etc. sem que apresente erros;</a:t>
            </a:r>
          </a:p>
          <a:p>
            <a:pPr algn="just"/>
            <a:endParaRPr lang="pt-BR" b="0" i="0" dirty="0">
              <a:solidFill>
                <a:schemeClr val="tx1"/>
              </a:solidFill>
              <a:effectLst/>
              <a:latin typeface="Source Serif Pro" panose="02040603050405020204" pitchFamily="18" charset="0"/>
              <a:ea typeface="Source Serif Pro" panose="02040603050405020204" pitchFamily="18" charset="0"/>
            </a:endParaRPr>
          </a:p>
          <a:p>
            <a:pPr algn="just"/>
            <a:r>
              <a:rPr lang="pt-BR" b="0" i="0" dirty="0">
                <a:solidFill>
                  <a:schemeClr val="tx1"/>
                </a:solidFill>
                <a:effectLst/>
                <a:latin typeface="Source Serif Pro" panose="02040603050405020204" pitchFamily="18" charset="0"/>
                <a:ea typeface="Source Serif Pro" panose="02040603050405020204" pitchFamily="18" charset="0"/>
              </a:rPr>
              <a:t>– </a:t>
            </a:r>
            <a:r>
              <a:rPr lang="pt-BR" b="1" i="0" dirty="0">
                <a:solidFill>
                  <a:schemeClr val="tx1"/>
                </a:solidFill>
                <a:effectLst/>
                <a:latin typeface="Source Serif Pro" panose="02040603050405020204" pitchFamily="18" charset="0"/>
                <a:ea typeface="Source Serif Pro" panose="02040603050405020204" pitchFamily="18" charset="0"/>
              </a:rPr>
              <a:t>Teste de usabilidade</a:t>
            </a:r>
            <a:r>
              <a:rPr lang="pt-BR" b="0" i="0" dirty="0">
                <a:solidFill>
                  <a:schemeClr val="tx1"/>
                </a:solidFill>
                <a:effectLst/>
                <a:latin typeface="Source Serif Pro" panose="02040603050405020204" pitchFamily="18" charset="0"/>
                <a:ea typeface="Source Serif Pro" panose="02040603050405020204" pitchFamily="18" charset="0"/>
              </a:rPr>
              <a:t> – esse teste é feito por um pequeno grupo de usuários para ver se o software satisfaz as suas necessidades.  Nesse teste analisa-se como o usuário usa o sistema, verificando onde ele tem mais dificuldade. Ouve-se também suas impressões, porém é preciso confrontá-las com as observações do avaliador;</a:t>
            </a:r>
          </a:p>
          <a:p>
            <a:pPr algn="just"/>
            <a:endParaRPr lang="pt-BR" b="0" i="0" dirty="0">
              <a:solidFill>
                <a:schemeClr val="tx1"/>
              </a:solidFill>
              <a:effectLst/>
              <a:latin typeface="Source Serif Pro" panose="02040603050405020204" pitchFamily="18" charset="0"/>
              <a:ea typeface="Source Serif Pro" panose="02040603050405020204" pitchFamily="18" charset="0"/>
            </a:endParaRPr>
          </a:p>
          <a:p>
            <a:pPr algn="just"/>
            <a:r>
              <a:rPr lang="pt-BR" b="0" i="0" dirty="0">
                <a:solidFill>
                  <a:schemeClr val="tx1"/>
                </a:solidFill>
                <a:effectLst/>
                <a:latin typeface="Source Serif Pro" panose="02040603050405020204" pitchFamily="18" charset="0"/>
                <a:ea typeface="Source Serif Pro" panose="02040603050405020204" pitchFamily="18" charset="0"/>
              </a:rPr>
              <a:t>– </a:t>
            </a:r>
            <a:r>
              <a:rPr lang="pt-BR" b="1" i="0" dirty="0">
                <a:solidFill>
                  <a:schemeClr val="tx1"/>
                </a:solidFill>
                <a:effectLst/>
                <a:latin typeface="Source Serif Pro" panose="02040603050405020204" pitchFamily="18" charset="0"/>
                <a:ea typeface="Source Serif Pro" panose="02040603050405020204" pitchFamily="18" charset="0"/>
              </a:rPr>
              <a:t>Teste de stress </a:t>
            </a:r>
            <a:r>
              <a:rPr lang="pt-BR" b="0" i="0" dirty="0">
                <a:solidFill>
                  <a:schemeClr val="tx1"/>
                </a:solidFill>
                <a:effectLst/>
                <a:latin typeface="Source Serif Pro" panose="02040603050405020204" pitchFamily="18" charset="0"/>
                <a:ea typeface="Source Serif Pro" panose="02040603050405020204" pitchFamily="18" charset="0"/>
              </a:rPr>
              <a:t>– aqui leva-se o software ao seu limite de potência e funcionamento, para mais ou para menos, de modo a avaliar em qual ponto ele deixa de funcionar adequadamente. Isso é feito para verificar se suas especificações máximas ou mínimas de uso estão corretas.</a:t>
            </a:r>
          </a:p>
        </p:txBody>
      </p:sp>
    </p:spTree>
    <p:extLst>
      <p:ext uri="{BB962C8B-B14F-4D97-AF65-F5344CB8AC3E}">
        <p14:creationId xmlns:p14="http://schemas.microsoft.com/office/powerpoint/2010/main" val="19149053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519603"/>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Plano de Testes – O que é?</a:t>
            </a:r>
            <a:endParaRPr sz="2400" b="0" i="0" u="none" strike="noStrike" cap="none" dirty="0">
              <a:solidFill>
                <a:schemeClr val="dk1"/>
              </a:solidFill>
              <a:latin typeface="Times New Roman"/>
              <a:ea typeface="Times New Roman"/>
              <a:cs typeface="Times New Roman"/>
              <a:sym typeface="Times New Roman"/>
            </a:endParaRPr>
          </a:p>
        </p:txBody>
      </p:sp>
      <p:sp>
        <p:nvSpPr>
          <p:cNvPr id="7" name="CaixaDeTexto 6">
            <a:extLst>
              <a:ext uri="{FF2B5EF4-FFF2-40B4-BE49-F238E27FC236}">
                <a16:creationId xmlns:a16="http://schemas.microsoft.com/office/drawing/2014/main" id="{2F9AE0F1-5819-41B5-34E3-A29645F466E9}"/>
              </a:ext>
            </a:extLst>
          </p:cNvPr>
          <p:cNvSpPr txBox="1"/>
          <p:nvPr/>
        </p:nvSpPr>
        <p:spPr>
          <a:xfrm>
            <a:off x="1669925" y="1205068"/>
            <a:ext cx="6633093" cy="2031325"/>
          </a:xfrm>
          <a:prstGeom prst="rect">
            <a:avLst/>
          </a:prstGeom>
          <a:noFill/>
        </p:spPr>
        <p:txBody>
          <a:bodyPr wrap="square">
            <a:spAutoFit/>
          </a:bodyPr>
          <a:lstStyle/>
          <a:p>
            <a:r>
              <a:rPr lang="pt-BR" dirty="0">
                <a:latin typeface="Source Serif Pro" panose="02040603050405020204" pitchFamily="18" charset="0"/>
                <a:ea typeface="Source Serif Pro" panose="02040603050405020204" pitchFamily="18" charset="0"/>
              </a:rPr>
              <a:t>O plano de teste é um dos documentos produzidos na condução de um projeto. Ele funciona como:</a:t>
            </a:r>
          </a:p>
          <a:p>
            <a:endParaRPr lang="pt-BR" dirty="0">
              <a:latin typeface="Source Serif Pro" panose="02040603050405020204" pitchFamily="18" charset="0"/>
              <a:ea typeface="Source Serif Pro" panose="02040603050405020204" pitchFamily="18" charset="0"/>
            </a:endParaRPr>
          </a:p>
          <a:p>
            <a:pPr marL="285750" indent="-285750">
              <a:buFont typeface="Arial" panose="020B0604020202020204" pitchFamily="34" charset="0"/>
              <a:buChar char="•"/>
            </a:pPr>
            <a:r>
              <a:rPr lang="pt-BR" dirty="0">
                <a:latin typeface="Source Serif Pro" panose="02040603050405020204" pitchFamily="18" charset="0"/>
                <a:ea typeface="Source Serif Pro" panose="02040603050405020204" pitchFamily="18" charset="0"/>
              </a:rPr>
              <a:t>Um ‘integrador’ entre diversas atividades de testes no projeto;</a:t>
            </a:r>
          </a:p>
          <a:p>
            <a:pPr marL="285750" indent="-285750">
              <a:buFont typeface="Arial" panose="020B0604020202020204" pitchFamily="34" charset="0"/>
              <a:buChar char="•"/>
            </a:pPr>
            <a:endParaRPr lang="pt-BR" dirty="0">
              <a:latin typeface="Source Serif Pro" panose="02040603050405020204" pitchFamily="18" charset="0"/>
              <a:ea typeface="Source Serif Pro" panose="02040603050405020204" pitchFamily="18" charset="0"/>
            </a:endParaRPr>
          </a:p>
          <a:p>
            <a:pPr marL="285750" indent="-285750">
              <a:buFont typeface="Arial" panose="020B0604020202020204" pitchFamily="34" charset="0"/>
              <a:buChar char="•"/>
            </a:pPr>
            <a:r>
              <a:rPr lang="pt-BR" dirty="0">
                <a:latin typeface="Source Serif Pro" panose="02040603050405020204" pitchFamily="18" charset="0"/>
                <a:ea typeface="Source Serif Pro" panose="02040603050405020204" pitchFamily="18" charset="0"/>
              </a:rPr>
              <a:t>Mecanismo de comunicação para os stakeholders (i.e. a equipe de testes e outros interessados);</a:t>
            </a:r>
          </a:p>
          <a:p>
            <a:pPr marL="285750" indent="-285750">
              <a:buFont typeface="Arial" panose="020B0604020202020204" pitchFamily="34" charset="0"/>
              <a:buChar char="•"/>
            </a:pPr>
            <a:endParaRPr lang="pt-BR" dirty="0">
              <a:latin typeface="Source Serif Pro" panose="02040603050405020204" pitchFamily="18" charset="0"/>
              <a:ea typeface="Source Serif Pro" panose="02040603050405020204" pitchFamily="18" charset="0"/>
            </a:endParaRPr>
          </a:p>
          <a:p>
            <a:pPr marL="285750" indent="-285750">
              <a:buFont typeface="Arial" panose="020B0604020202020204" pitchFamily="34" charset="0"/>
              <a:buChar char="•"/>
            </a:pPr>
            <a:r>
              <a:rPr lang="pt-BR" dirty="0">
                <a:latin typeface="Source Serif Pro" panose="02040603050405020204" pitchFamily="18" charset="0"/>
                <a:ea typeface="Source Serif Pro" panose="02040603050405020204" pitchFamily="18" charset="0"/>
              </a:rPr>
              <a:t>Guia para execução e controle das atividades de testes.</a:t>
            </a:r>
          </a:p>
        </p:txBody>
      </p:sp>
    </p:spTree>
    <p:extLst>
      <p:ext uri="{BB962C8B-B14F-4D97-AF65-F5344CB8AC3E}">
        <p14:creationId xmlns:p14="http://schemas.microsoft.com/office/powerpoint/2010/main" val="2943850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519603"/>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Plano de Testes – O que é?</a:t>
            </a:r>
            <a:endParaRPr sz="2400" b="0" i="0" u="none" strike="noStrike" cap="none" dirty="0">
              <a:solidFill>
                <a:schemeClr val="dk1"/>
              </a:solidFill>
              <a:latin typeface="Times New Roman"/>
              <a:ea typeface="Times New Roman"/>
              <a:cs typeface="Times New Roman"/>
              <a:sym typeface="Times New Roman"/>
            </a:endParaRPr>
          </a:p>
        </p:txBody>
      </p:sp>
      <p:sp>
        <p:nvSpPr>
          <p:cNvPr id="7" name="CaixaDeTexto 6">
            <a:extLst>
              <a:ext uri="{FF2B5EF4-FFF2-40B4-BE49-F238E27FC236}">
                <a16:creationId xmlns:a16="http://schemas.microsoft.com/office/drawing/2014/main" id="{2F9AE0F1-5819-41B5-34E3-A29645F466E9}"/>
              </a:ext>
            </a:extLst>
          </p:cNvPr>
          <p:cNvSpPr txBox="1"/>
          <p:nvPr/>
        </p:nvSpPr>
        <p:spPr>
          <a:xfrm>
            <a:off x="1669925" y="1205068"/>
            <a:ext cx="6633093" cy="3323987"/>
          </a:xfrm>
          <a:prstGeom prst="rect">
            <a:avLst/>
          </a:prstGeom>
          <a:noFill/>
        </p:spPr>
        <p:txBody>
          <a:bodyPr wrap="square">
            <a:spAutoFit/>
          </a:bodyPr>
          <a:lstStyle/>
          <a:p>
            <a:r>
              <a:rPr lang="pt-BR" dirty="0">
                <a:latin typeface="Source Serif Pro" panose="02040603050405020204" pitchFamily="18" charset="0"/>
                <a:ea typeface="Source Serif Pro" panose="02040603050405020204" pitchFamily="18" charset="0"/>
              </a:rPr>
              <a:t>O plano de teste, que pode ser elaborado pelo gerente de projeto ou gerente de testes, visa planejar as atividades a serem realizadas, definir os métodos a serem empregados, planejar a capacidade necessária, estabelecer métricas e formas de acompanhamento do processo. Nesse sentido, deve conter:</a:t>
            </a:r>
          </a:p>
          <a:p>
            <a:endParaRPr lang="pt-BR" dirty="0">
              <a:latin typeface="Source Serif Pro" panose="02040603050405020204" pitchFamily="18" charset="0"/>
              <a:ea typeface="Source Serif Pro" panose="02040603050405020204" pitchFamily="18" charset="0"/>
            </a:endParaRPr>
          </a:p>
          <a:p>
            <a:pPr marL="285750" indent="-285750">
              <a:buFont typeface="Arial" panose="020B0604020202020204" pitchFamily="34" charset="0"/>
              <a:buChar char="•"/>
            </a:pPr>
            <a:r>
              <a:rPr lang="pt-BR" dirty="0">
                <a:latin typeface="Source Serif Pro" panose="02040603050405020204" pitchFamily="18" charset="0"/>
                <a:ea typeface="Source Serif Pro" panose="02040603050405020204" pitchFamily="18" charset="0"/>
              </a:rPr>
              <a:t>Introdução com identificação do projeto (definições, abreviações, referências), definição de escopo e objetivos;</a:t>
            </a:r>
          </a:p>
          <a:p>
            <a:pPr marL="285750" indent="-285750">
              <a:buFont typeface="Arial" panose="020B0604020202020204" pitchFamily="34" charset="0"/>
              <a:buChar char="•"/>
            </a:pPr>
            <a:endParaRPr lang="pt-BR" dirty="0">
              <a:latin typeface="Source Serif Pro" panose="02040603050405020204" pitchFamily="18" charset="0"/>
              <a:ea typeface="Source Serif Pro" panose="02040603050405020204" pitchFamily="18" charset="0"/>
            </a:endParaRPr>
          </a:p>
          <a:p>
            <a:pPr marL="285750" indent="-285750">
              <a:buFont typeface="Arial" panose="020B0604020202020204" pitchFamily="34" charset="0"/>
              <a:buChar char="•"/>
            </a:pPr>
            <a:r>
              <a:rPr lang="pt-BR" dirty="0">
                <a:latin typeface="Source Serif Pro" panose="02040603050405020204" pitchFamily="18" charset="0"/>
                <a:ea typeface="Source Serif Pro" panose="02040603050405020204" pitchFamily="18" charset="0"/>
              </a:rPr>
              <a:t>Conjunto de requisitos a serem testados;</a:t>
            </a:r>
          </a:p>
          <a:p>
            <a:pPr marL="285750" indent="-285750">
              <a:buFont typeface="Arial" panose="020B0604020202020204" pitchFamily="34" charset="0"/>
              <a:buChar char="•"/>
            </a:pPr>
            <a:endParaRPr lang="pt-BR" dirty="0">
              <a:latin typeface="Source Serif Pro" panose="02040603050405020204" pitchFamily="18" charset="0"/>
              <a:ea typeface="Source Serif Pro" panose="02040603050405020204" pitchFamily="18" charset="0"/>
            </a:endParaRPr>
          </a:p>
          <a:p>
            <a:pPr marL="285750" indent="-285750">
              <a:buFont typeface="Arial" panose="020B0604020202020204" pitchFamily="34" charset="0"/>
              <a:buChar char="•"/>
            </a:pPr>
            <a:r>
              <a:rPr lang="pt-BR" dirty="0">
                <a:latin typeface="Source Serif Pro" panose="02040603050405020204" pitchFamily="18" charset="0"/>
                <a:ea typeface="Source Serif Pro" panose="02040603050405020204" pitchFamily="18" charset="0"/>
              </a:rPr>
              <a:t>Tipos de testes a serem realizados e ferramentas utilizadas;</a:t>
            </a:r>
          </a:p>
          <a:p>
            <a:pPr marL="285750" indent="-285750">
              <a:buFont typeface="Arial" panose="020B0604020202020204" pitchFamily="34" charset="0"/>
              <a:buChar char="•"/>
            </a:pPr>
            <a:endParaRPr lang="pt-BR" dirty="0">
              <a:latin typeface="Source Serif Pro" panose="02040603050405020204" pitchFamily="18" charset="0"/>
              <a:ea typeface="Source Serif Pro" panose="02040603050405020204" pitchFamily="18" charset="0"/>
            </a:endParaRPr>
          </a:p>
          <a:p>
            <a:pPr marL="285750" indent="-285750">
              <a:buFont typeface="Arial" panose="020B0604020202020204" pitchFamily="34" charset="0"/>
              <a:buChar char="•"/>
            </a:pPr>
            <a:r>
              <a:rPr lang="pt-BR" dirty="0">
                <a:latin typeface="Source Serif Pro" panose="02040603050405020204" pitchFamily="18" charset="0"/>
                <a:ea typeface="Source Serif Pro" panose="02040603050405020204" pitchFamily="18" charset="0"/>
              </a:rPr>
              <a:t>Recursos utilizados nos testes;</a:t>
            </a:r>
          </a:p>
          <a:p>
            <a:pPr marL="285750" indent="-285750">
              <a:buFont typeface="Arial" panose="020B0604020202020204" pitchFamily="34" charset="0"/>
              <a:buChar char="•"/>
            </a:pPr>
            <a:endParaRPr lang="pt-BR" dirty="0">
              <a:latin typeface="Source Serif Pro" panose="02040603050405020204" pitchFamily="18" charset="0"/>
              <a:ea typeface="Source Serif Pro" panose="02040603050405020204" pitchFamily="18" charset="0"/>
            </a:endParaRPr>
          </a:p>
          <a:p>
            <a:pPr marL="285750" indent="-285750">
              <a:buFont typeface="Arial" panose="020B0604020202020204" pitchFamily="34" charset="0"/>
              <a:buChar char="•"/>
            </a:pPr>
            <a:r>
              <a:rPr lang="pt-BR" dirty="0">
                <a:latin typeface="Source Serif Pro" panose="02040603050405020204" pitchFamily="18" charset="0"/>
                <a:ea typeface="Source Serif Pro" panose="02040603050405020204" pitchFamily="18" charset="0"/>
              </a:rPr>
              <a:t>Cronograma de atividades (e definição de marcos de projeto).</a:t>
            </a:r>
          </a:p>
        </p:txBody>
      </p:sp>
    </p:spTree>
    <p:extLst>
      <p:ext uri="{BB962C8B-B14F-4D97-AF65-F5344CB8AC3E}">
        <p14:creationId xmlns:p14="http://schemas.microsoft.com/office/powerpoint/2010/main" val="759916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132485"/>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Plano de Testes – O que é?</a:t>
            </a:r>
            <a:endParaRPr sz="2400" b="0" i="0" u="none" strike="noStrike" cap="none" dirty="0">
              <a:solidFill>
                <a:schemeClr val="dk1"/>
              </a:solidFill>
              <a:latin typeface="Times New Roman"/>
              <a:ea typeface="Times New Roman"/>
              <a:cs typeface="Times New Roman"/>
              <a:sym typeface="Times New Roman"/>
            </a:endParaRPr>
          </a:p>
        </p:txBody>
      </p:sp>
      <p:sp>
        <p:nvSpPr>
          <p:cNvPr id="4" name="CaixaDeTexto 3">
            <a:extLst>
              <a:ext uri="{FF2B5EF4-FFF2-40B4-BE49-F238E27FC236}">
                <a16:creationId xmlns:a16="http://schemas.microsoft.com/office/drawing/2014/main" id="{E92B3011-E0E4-6462-1702-2089C16C411C}"/>
              </a:ext>
            </a:extLst>
          </p:cNvPr>
          <p:cNvSpPr txBox="1"/>
          <p:nvPr/>
        </p:nvSpPr>
        <p:spPr>
          <a:xfrm>
            <a:off x="1503064" y="825254"/>
            <a:ext cx="7325212" cy="4185761"/>
          </a:xfrm>
          <a:prstGeom prst="rect">
            <a:avLst/>
          </a:prstGeom>
          <a:noFill/>
        </p:spPr>
        <p:txBody>
          <a:bodyPr wrap="square">
            <a:spAutoFit/>
          </a:bodyPr>
          <a:lstStyle/>
          <a:p>
            <a:r>
              <a:rPr lang="pt-BR" dirty="0">
                <a:latin typeface="Source Serif Pro" panose="02040603050405020204" pitchFamily="18" charset="0"/>
                <a:ea typeface="Source Serif Pro" panose="02040603050405020204" pitchFamily="18" charset="0"/>
              </a:rPr>
              <a:t>Em outras palavras, um plano de teste deve definir:</a:t>
            </a:r>
          </a:p>
          <a:p>
            <a:endParaRPr lang="pt-BR" dirty="0">
              <a:latin typeface="Source Serif Pro" panose="02040603050405020204" pitchFamily="18" charset="0"/>
              <a:ea typeface="Source Serif Pro" panose="02040603050405020204" pitchFamily="18" charset="0"/>
            </a:endParaRPr>
          </a:p>
          <a:p>
            <a:r>
              <a:rPr lang="pt-BR" dirty="0">
                <a:latin typeface="Source Serif Pro" panose="02040603050405020204" pitchFamily="18" charset="0"/>
                <a:ea typeface="Source Serif Pro" panose="02040603050405020204" pitchFamily="18" charset="0"/>
              </a:rPr>
              <a:t>1.      Os itens a serem testados: o escopo e objetivos do plano devem ser estabelecidos no início do projeto.</a:t>
            </a:r>
          </a:p>
          <a:p>
            <a:endParaRPr lang="pt-BR" dirty="0">
              <a:latin typeface="Source Serif Pro" panose="02040603050405020204" pitchFamily="18" charset="0"/>
              <a:ea typeface="Source Serif Pro" panose="02040603050405020204" pitchFamily="18" charset="0"/>
            </a:endParaRPr>
          </a:p>
          <a:p>
            <a:r>
              <a:rPr lang="pt-BR" dirty="0">
                <a:latin typeface="Source Serif Pro" panose="02040603050405020204" pitchFamily="18" charset="0"/>
                <a:ea typeface="Source Serif Pro" panose="02040603050405020204" pitchFamily="18" charset="0"/>
              </a:rPr>
              <a:t>2.      Atividades e recursos a serem empregados: as estratégias de testes e recursos utilizados devem ser definidos, bem como toda e qualquer restrição imposta sobre as atividades e/ou recursos.</a:t>
            </a:r>
          </a:p>
          <a:p>
            <a:endParaRPr lang="pt-BR" dirty="0">
              <a:latin typeface="Source Serif Pro" panose="02040603050405020204" pitchFamily="18" charset="0"/>
              <a:ea typeface="Source Serif Pro" panose="02040603050405020204" pitchFamily="18" charset="0"/>
            </a:endParaRPr>
          </a:p>
          <a:p>
            <a:r>
              <a:rPr lang="pt-BR" dirty="0">
                <a:latin typeface="Source Serif Pro" panose="02040603050405020204" pitchFamily="18" charset="0"/>
                <a:ea typeface="Source Serif Pro" panose="02040603050405020204" pitchFamily="18" charset="0"/>
              </a:rPr>
              <a:t>3.      Os tipos de testes a serem realizados e ferramentas empregadas: os tipos de testes e a ordem cronológica de sua ocorrência são estabelecidos no plano.</a:t>
            </a:r>
          </a:p>
          <a:p>
            <a:endParaRPr lang="pt-BR" dirty="0">
              <a:latin typeface="Source Serif Pro" panose="02040603050405020204" pitchFamily="18" charset="0"/>
              <a:ea typeface="Source Serif Pro" panose="02040603050405020204" pitchFamily="18" charset="0"/>
            </a:endParaRPr>
          </a:p>
          <a:p>
            <a:r>
              <a:rPr lang="pt-BR" dirty="0">
                <a:latin typeface="Source Serif Pro" panose="02040603050405020204" pitchFamily="18" charset="0"/>
                <a:ea typeface="Source Serif Pro" panose="02040603050405020204" pitchFamily="18" charset="0"/>
              </a:rPr>
              <a:t>4.      Critérios para avaliar os resultados obtidos: métricas devem ser definidas para acompanhar os resultados alcançados.</a:t>
            </a:r>
          </a:p>
          <a:p>
            <a:endParaRPr lang="pt-BR" dirty="0">
              <a:latin typeface="Source Serif Pro" panose="02040603050405020204" pitchFamily="18" charset="0"/>
              <a:ea typeface="Source Serif Pro" panose="02040603050405020204" pitchFamily="18" charset="0"/>
            </a:endParaRPr>
          </a:p>
          <a:p>
            <a:r>
              <a:rPr lang="pt-BR" dirty="0">
                <a:latin typeface="Source Serif Pro" panose="02040603050405020204" pitchFamily="18" charset="0"/>
                <a:ea typeface="Source Serif Pro" panose="02040603050405020204" pitchFamily="18" charset="0"/>
              </a:rPr>
              <a:t>Perceba que o planejamento é necessário a fim de antecipar o que pode ocorrer e, portanto, provisionar os recursos necessários nos momentos adequados. Isto significa coordenar o processo de teste de modo a perseguir a meta de qualidade do produto (sistema de software).</a:t>
            </a:r>
          </a:p>
        </p:txBody>
      </p:sp>
    </p:spTree>
    <p:extLst>
      <p:ext uri="{BB962C8B-B14F-4D97-AF65-F5344CB8AC3E}">
        <p14:creationId xmlns:p14="http://schemas.microsoft.com/office/powerpoint/2010/main" val="1724128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132485"/>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Plano de Testes – Exemplos</a:t>
            </a:r>
            <a:endParaRPr sz="2400" b="0" i="0" u="none" strike="noStrike" cap="none" dirty="0">
              <a:solidFill>
                <a:schemeClr val="dk1"/>
              </a:solidFill>
              <a:latin typeface="Times New Roman"/>
              <a:ea typeface="Times New Roman"/>
              <a:cs typeface="Times New Roman"/>
              <a:sym typeface="Times New Roman"/>
            </a:endParaRPr>
          </a:p>
        </p:txBody>
      </p:sp>
      <p:sp>
        <p:nvSpPr>
          <p:cNvPr id="5" name="CaixaDeTexto 4">
            <a:extLst>
              <a:ext uri="{FF2B5EF4-FFF2-40B4-BE49-F238E27FC236}">
                <a16:creationId xmlns:a16="http://schemas.microsoft.com/office/drawing/2014/main" id="{1B1E1C00-1959-4C3C-9086-79E134069FE9}"/>
              </a:ext>
            </a:extLst>
          </p:cNvPr>
          <p:cNvSpPr txBox="1"/>
          <p:nvPr/>
        </p:nvSpPr>
        <p:spPr>
          <a:xfrm>
            <a:off x="1669925" y="878790"/>
            <a:ext cx="6833327" cy="1384995"/>
          </a:xfrm>
          <a:prstGeom prst="rect">
            <a:avLst/>
          </a:prstGeom>
          <a:noFill/>
        </p:spPr>
        <p:txBody>
          <a:bodyPr wrap="square">
            <a:spAutoFit/>
          </a:bodyPr>
          <a:lstStyle/>
          <a:p>
            <a:r>
              <a:rPr lang="pt-BR" dirty="0">
                <a:hlinkClick r:id="rId3"/>
              </a:rPr>
              <a:t>https://www.cin.ufpe.br/~gta/rup-vc/extend.formal_resources/guidances/examples/resources/test_plan_v1.htm</a:t>
            </a:r>
            <a:endParaRPr lang="pt-BR" dirty="0"/>
          </a:p>
          <a:p>
            <a:endParaRPr lang="pt-BR" dirty="0"/>
          </a:p>
          <a:p>
            <a:r>
              <a:rPr lang="pt-BR" dirty="0">
                <a:hlinkClick r:id="rId4"/>
              </a:rPr>
              <a:t>https://pt.slideshare.net/LeandroRodrigues221/exemplo-de-plano-de-testes</a:t>
            </a:r>
            <a:endParaRPr lang="pt-BR" dirty="0"/>
          </a:p>
          <a:p>
            <a:endParaRPr lang="pt-BR" dirty="0"/>
          </a:p>
          <a:p>
            <a:r>
              <a:rPr lang="pt-BR" dirty="0"/>
              <a:t>https://github.com/danielle8farias-zz/plano-de-testes</a:t>
            </a:r>
          </a:p>
        </p:txBody>
      </p:sp>
    </p:spTree>
    <p:extLst>
      <p:ext uri="{BB962C8B-B14F-4D97-AF65-F5344CB8AC3E}">
        <p14:creationId xmlns:p14="http://schemas.microsoft.com/office/powerpoint/2010/main" val="38960442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132485"/>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Testes Unitários – O que é</a:t>
            </a:r>
            <a:endParaRPr sz="2400" b="0" i="0" u="none" strike="noStrike" cap="none" dirty="0">
              <a:solidFill>
                <a:schemeClr val="dk1"/>
              </a:solidFill>
              <a:latin typeface="Times New Roman"/>
              <a:ea typeface="Times New Roman"/>
              <a:cs typeface="Times New Roman"/>
              <a:sym typeface="Times New Roman"/>
            </a:endParaRPr>
          </a:p>
        </p:txBody>
      </p:sp>
      <p:sp>
        <p:nvSpPr>
          <p:cNvPr id="7" name="CaixaDeTexto 6">
            <a:extLst>
              <a:ext uri="{FF2B5EF4-FFF2-40B4-BE49-F238E27FC236}">
                <a16:creationId xmlns:a16="http://schemas.microsoft.com/office/drawing/2014/main" id="{4E041CA6-3D0F-DC9F-3CBF-4B62EF3436C7}"/>
              </a:ext>
            </a:extLst>
          </p:cNvPr>
          <p:cNvSpPr txBox="1"/>
          <p:nvPr/>
        </p:nvSpPr>
        <p:spPr>
          <a:xfrm>
            <a:off x="1669926" y="976116"/>
            <a:ext cx="6819978" cy="2893100"/>
          </a:xfrm>
          <a:prstGeom prst="rect">
            <a:avLst/>
          </a:prstGeom>
          <a:noFill/>
        </p:spPr>
        <p:txBody>
          <a:bodyPr wrap="square">
            <a:spAutoFit/>
          </a:bodyPr>
          <a:lstStyle/>
          <a:p>
            <a:pPr algn="l" fontAlgn="base"/>
            <a:r>
              <a:rPr lang="pt-BR" b="0" i="0" dirty="0">
                <a:solidFill>
                  <a:schemeClr val="tx1"/>
                </a:solidFill>
                <a:effectLst/>
                <a:latin typeface="Source Serif Pro" panose="02040603050405020204" pitchFamily="18" charset="0"/>
                <a:ea typeface="Source Serif Pro" panose="02040603050405020204" pitchFamily="18" charset="0"/>
              </a:rPr>
              <a:t>Basicamente, </a:t>
            </a:r>
            <a:r>
              <a:rPr lang="pt-BR" b="1" i="0" dirty="0">
                <a:solidFill>
                  <a:schemeClr val="tx1"/>
                </a:solidFill>
                <a:effectLst/>
                <a:latin typeface="Source Serif Pro" panose="02040603050405020204" pitchFamily="18" charset="0"/>
                <a:ea typeface="Source Serif Pro" panose="02040603050405020204" pitchFamily="18" charset="0"/>
              </a:rPr>
              <a:t>testes unitários ou testes de unidades aferem a qualidade do código em sua menor fração. </a:t>
            </a:r>
          </a:p>
          <a:p>
            <a:pPr algn="l" fontAlgn="base"/>
            <a:endParaRPr lang="pt-BR" b="0" i="0" dirty="0">
              <a:solidFill>
                <a:schemeClr val="tx1"/>
              </a:solidFill>
              <a:effectLst/>
              <a:latin typeface="Source Serif Pro" panose="02040603050405020204" pitchFamily="18" charset="0"/>
              <a:ea typeface="Source Serif Pro" panose="02040603050405020204" pitchFamily="18" charset="0"/>
            </a:endParaRPr>
          </a:p>
          <a:p>
            <a:pPr algn="l" fontAlgn="base"/>
            <a:r>
              <a:rPr lang="pt-BR" b="0" i="0" dirty="0">
                <a:solidFill>
                  <a:schemeClr val="tx1"/>
                </a:solidFill>
                <a:effectLst/>
                <a:latin typeface="Source Serif Pro" panose="02040603050405020204" pitchFamily="18" charset="0"/>
                <a:ea typeface="Source Serif Pro" panose="02040603050405020204" pitchFamily="18" charset="0"/>
              </a:rPr>
              <a:t>Eles também podem ser identificados como testes de algoritmos e, por isso, não dependem do uso de recursos externos. </a:t>
            </a:r>
          </a:p>
          <a:p>
            <a:pPr algn="l" fontAlgn="base"/>
            <a:endParaRPr lang="pt-BR" b="0" i="0" dirty="0">
              <a:solidFill>
                <a:schemeClr val="tx1"/>
              </a:solidFill>
              <a:effectLst/>
              <a:latin typeface="Source Serif Pro" panose="02040603050405020204" pitchFamily="18" charset="0"/>
              <a:ea typeface="Source Serif Pro" panose="02040603050405020204" pitchFamily="18" charset="0"/>
            </a:endParaRPr>
          </a:p>
          <a:p>
            <a:pPr algn="l" fontAlgn="base"/>
            <a:r>
              <a:rPr lang="pt-BR" b="0" i="0" dirty="0">
                <a:solidFill>
                  <a:schemeClr val="tx1"/>
                </a:solidFill>
                <a:effectLst/>
                <a:latin typeface="Source Serif Pro" panose="02040603050405020204" pitchFamily="18" charset="0"/>
                <a:ea typeface="Source Serif Pro" panose="02040603050405020204" pitchFamily="18" charset="0"/>
              </a:rPr>
              <a:t>Sendo assim, são os testes mais baratos da pirâmide de testes, como você verá a seguir. No entanto, geram menos valor para a empresa, visto que sozinhos eles não garantem a </a:t>
            </a:r>
            <a:r>
              <a:rPr lang="pt-BR" b="0" i="0" dirty="0" err="1">
                <a:solidFill>
                  <a:schemeClr val="tx1"/>
                </a:solidFill>
                <a:effectLst/>
                <a:latin typeface="Source Serif Pro" panose="02040603050405020204" pitchFamily="18" charset="0"/>
                <a:ea typeface="Source Serif Pro" panose="02040603050405020204" pitchFamily="18" charset="0"/>
              </a:rPr>
              <a:t>corretude</a:t>
            </a:r>
            <a:r>
              <a:rPr lang="pt-BR" b="0" i="0" dirty="0">
                <a:solidFill>
                  <a:schemeClr val="tx1"/>
                </a:solidFill>
                <a:effectLst/>
                <a:latin typeface="Source Serif Pro" panose="02040603050405020204" pitchFamily="18" charset="0"/>
                <a:ea typeface="Source Serif Pro" panose="02040603050405020204" pitchFamily="18" charset="0"/>
              </a:rPr>
              <a:t> do código. </a:t>
            </a:r>
          </a:p>
          <a:p>
            <a:pPr algn="l" fontAlgn="base"/>
            <a:endParaRPr lang="pt-BR" b="0" i="0" dirty="0">
              <a:solidFill>
                <a:schemeClr val="tx1"/>
              </a:solidFill>
              <a:effectLst/>
              <a:latin typeface="Source Serif Pro" panose="02040603050405020204" pitchFamily="18" charset="0"/>
              <a:ea typeface="Source Serif Pro" panose="02040603050405020204" pitchFamily="18" charset="0"/>
            </a:endParaRPr>
          </a:p>
          <a:p>
            <a:pPr algn="l" fontAlgn="base"/>
            <a:r>
              <a:rPr lang="pt-BR" b="0" i="0" dirty="0">
                <a:solidFill>
                  <a:schemeClr val="tx1"/>
                </a:solidFill>
                <a:effectLst/>
                <a:latin typeface="Source Serif Pro" panose="02040603050405020204" pitchFamily="18" charset="0"/>
                <a:ea typeface="Source Serif Pro" panose="02040603050405020204" pitchFamily="18" charset="0"/>
              </a:rPr>
              <a:t>Mas, em síntese, os testes unitários são os mais usados em qualquer projeto e, por isso, quem está começando a dar os primeiros passos na programação deve ficar atualizado sobre este tema, aprofundando os seus estudos. </a:t>
            </a:r>
          </a:p>
        </p:txBody>
      </p:sp>
    </p:spTree>
    <p:extLst>
      <p:ext uri="{BB962C8B-B14F-4D97-AF65-F5344CB8AC3E}">
        <p14:creationId xmlns:p14="http://schemas.microsoft.com/office/powerpoint/2010/main" val="42813043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132485"/>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Testes Unitários – O que é</a:t>
            </a:r>
            <a:endParaRPr sz="2400" b="0" i="0" u="none" strike="noStrike" cap="none" dirty="0">
              <a:solidFill>
                <a:schemeClr val="dk1"/>
              </a:solidFill>
              <a:latin typeface="Times New Roman"/>
              <a:ea typeface="Times New Roman"/>
              <a:cs typeface="Times New Roman"/>
              <a:sym typeface="Times New Roman"/>
            </a:endParaRPr>
          </a:p>
        </p:txBody>
      </p:sp>
      <p:pic>
        <p:nvPicPr>
          <p:cNvPr id="5122" name="Picture 2">
            <a:extLst>
              <a:ext uri="{FF2B5EF4-FFF2-40B4-BE49-F238E27FC236}">
                <a16:creationId xmlns:a16="http://schemas.microsoft.com/office/drawing/2014/main" id="{9FA995CD-2E39-0BFD-7BBC-6A0C3AE82B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1434" y="1208041"/>
            <a:ext cx="5895975" cy="3248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98087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132485"/>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Testes Unitários – O que é</a:t>
            </a:r>
            <a:endParaRPr sz="2400" b="0" i="0" u="none" strike="noStrike" cap="none" dirty="0">
              <a:solidFill>
                <a:schemeClr val="dk1"/>
              </a:solidFill>
              <a:latin typeface="Times New Roman"/>
              <a:ea typeface="Times New Roman"/>
              <a:cs typeface="Times New Roman"/>
              <a:sym typeface="Times New Roman"/>
            </a:endParaRPr>
          </a:p>
        </p:txBody>
      </p:sp>
      <p:sp>
        <p:nvSpPr>
          <p:cNvPr id="7" name="CaixaDeTexto 6">
            <a:extLst>
              <a:ext uri="{FF2B5EF4-FFF2-40B4-BE49-F238E27FC236}">
                <a16:creationId xmlns:a16="http://schemas.microsoft.com/office/drawing/2014/main" id="{4E041CA6-3D0F-DC9F-3CBF-4B62EF3436C7}"/>
              </a:ext>
            </a:extLst>
          </p:cNvPr>
          <p:cNvSpPr txBox="1"/>
          <p:nvPr/>
        </p:nvSpPr>
        <p:spPr>
          <a:xfrm>
            <a:off x="1669926" y="976116"/>
            <a:ext cx="6819978" cy="2462213"/>
          </a:xfrm>
          <a:prstGeom prst="rect">
            <a:avLst/>
          </a:prstGeom>
          <a:noFill/>
        </p:spPr>
        <p:txBody>
          <a:bodyPr wrap="square">
            <a:spAutoFit/>
          </a:bodyPr>
          <a:lstStyle/>
          <a:p>
            <a:pPr algn="l"/>
            <a:r>
              <a:rPr lang="pt-BR" b="0" i="0" dirty="0">
                <a:solidFill>
                  <a:schemeClr val="tx1"/>
                </a:solidFill>
                <a:effectLst/>
                <a:latin typeface="source-serif-pro"/>
              </a:rPr>
              <a:t>Perguntar para que servem testes unitários ou qualquer outro teste automatizado é uma ótima pergunta, afinal existem diversas formas que aparentemente são mais rápidas de testar se minha função está fazendo o que deveria. Eu poderia simplesmente executar o código para verificar se está funcionando. Então, por que motivo eu vou escrever outro código para testar o meu código? O Que garante que o segundo código funciona? Quem testa o teste?</a:t>
            </a:r>
          </a:p>
          <a:p>
            <a:pPr algn="l"/>
            <a:endParaRPr lang="pt-BR" dirty="0">
              <a:solidFill>
                <a:schemeClr val="tx1"/>
              </a:solidFill>
              <a:latin typeface="source-serif-pro"/>
            </a:endParaRPr>
          </a:p>
          <a:p>
            <a:pPr algn="l"/>
            <a:endParaRPr lang="pt-BR" b="0" i="0" dirty="0">
              <a:solidFill>
                <a:schemeClr val="tx1"/>
              </a:solidFill>
              <a:effectLst/>
              <a:latin typeface="source-serif-pro"/>
            </a:endParaRPr>
          </a:p>
          <a:p>
            <a:pPr algn="l"/>
            <a:r>
              <a:rPr lang="pt-BR" b="0" i="0" dirty="0">
                <a:solidFill>
                  <a:schemeClr val="tx1"/>
                </a:solidFill>
                <a:effectLst/>
                <a:latin typeface="source-serif-pro"/>
              </a:rPr>
              <a:t>Testes unitários, assim como qualquer teste automatizados não servem principalmente para verificar se uma função específica está funcionando, mas sim para garantir que sua aplicação continue funcionando após alguma alteração em sua base de código.</a:t>
            </a:r>
          </a:p>
        </p:txBody>
      </p:sp>
    </p:spTree>
    <p:extLst>
      <p:ext uri="{BB962C8B-B14F-4D97-AF65-F5344CB8AC3E}">
        <p14:creationId xmlns:p14="http://schemas.microsoft.com/office/powerpoint/2010/main" val="23135106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132485"/>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Testes Unitários – O que é</a:t>
            </a:r>
            <a:endParaRPr sz="2400" b="0" i="0" u="none" strike="noStrike" cap="none" dirty="0">
              <a:solidFill>
                <a:schemeClr val="dk1"/>
              </a:solidFill>
              <a:latin typeface="Times New Roman"/>
              <a:ea typeface="Times New Roman"/>
              <a:cs typeface="Times New Roman"/>
              <a:sym typeface="Times New Roman"/>
            </a:endParaRPr>
          </a:p>
        </p:txBody>
      </p:sp>
      <p:sp>
        <p:nvSpPr>
          <p:cNvPr id="4" name="CaixaDeTexto 3">
            <a:extLst>
              <a:ext uri="{FF2B5EF4-FFF2-40B4-BE49-F238E27FC236}">
                <a16:creationId xmlns:a16="http://schemas.microsoft.com/office/drawing/2014/main" id="{0FDB3716-E27C-9A7B-1506-EDFA12388784}"/>
              </a:ext>
            </a:extLst>
          </p:cNvPr>
          <p:cNvSpPr txBox="1"/>
          <p:nvPr/>
        </p:nvSpPr>
        <p:spPr>
          <a:xfrm>
            <a:off x="1669925" y="835183"/>
            <a:ext cx="6306045" cy="2677656"/>
          </a:xfrm>
          <a:prstGeom prst="rect">
            <a:avLst/>
          </a:prstGeom>
          <a:noFill/>
        </p:spPr>
        <p:txBody>
          <a:bodyPr wrap="square">
            <a:spAutoFit/>
          </a:bodyPr>
          <a:lstStyle/>
          <a:p>
            <a:pPr algn="l"/>
            <a:r>
              <a:rPr lang="pt-BR" b="0" i="0" dirty="0">
                <a:solidFill>
                  <a:srgbClr val="292929"/>
                </a:solidFill>
                <a:effectLst/>
                <a:latin typeface="source-serif-pro"/>
              </a:rPr>
              <a:t>Pode parecer tentador em um primeiro momento não escrever testes para uma função que você acaba de desenvolver, afinal, costuma-se escrever mais código para testar uma função, que o próprio código da função. Mas você deve lembrar que irá passar a maior parte do tempo de desenvolvimento de um sistema trabalhando em sua manutenção.</a:t>
            </a:r>
          </a:p>
          <a:p>
            <a:pPr algn="l"/>
            <a:endParaRPr lang="pt-BR" dirty="0">
              <a:solidFill>
                <a:srgbClr val="292929"/>
              </a:solidFill>
              <a:latin typeface="source-serif-pro"/>
            </a:endParaRPr>
          </a:p>
          <a:p>
            <a:pPr algn="l"/>
            <a:endParaRPr lang="pt-BR" b="0" i="0" dirty="0">
              <a:solidFill>
                <a:srgbClr val="292929"/>
              </a:solidFill>
              <a:effectLst/>
              <a:latin typeface="source-serif-pro"/>
            </a:endParaRPr>
          </a:p>
          <a:p>
            <a:pPr algn="l"/>
            <a:r>
              <a:rPr lang="pt-BR" b="0" i="0" dirty="0">
                <a:solidFill>
                  <a:srgbClr val="292929"/>
                </a:solidFill>
                <a:effectLst/>
                <a:latin typeface="source-serif-pro"/>
              </a:rPr>
              <a:t>Sua aplicação em pouco tempo terá algumas centenas de funções sendo executadas, e em muitas vezes executando umas às outras, sua base de código fica enorme e logo torna-se humanamente impossível de ser testada de forma manual após qualquer alteração. Testes unitários na maioria das vezes levam apenas alguns segundos para testar toda sua aplicação.</a:t>
            </a:r>
          </a:p>
        </p:txBody>
      </p:sp>
    </p:spTree>
    <p:extLst>
      <p:ext uri="{BB962C8B-B14F-4D97-AF65-F5344CB8AC3E}">
        <p14:creationId xmlns:p14="http://schemas.microsoft.com/office/powerpoint/2010/main" val="36412196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132485"/>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Testes Unitários - Vantagens</a:t>
            </a:r>
            <a:endParaRPr sz="2400" b="0" i="0" u="none" strike="noStrike" cap="none" dirty="0">
              <a:solidFill>
                <a:schemeClr val="dk1"/>
              </a:solidFill>
              <a:latin typeface="Times New Roman"/>
              <a:ea typeface="Times New Roman"/>
              <a:cs typeface="Times New Roman"/>
              <a:sym typeface="Times New Roman"/>
            </a:endParaRPr>
          </a:p>
        </p:txBody>
      </p:sp>
      <p:sp>
        <p:nvSpPr>
          <p:cNvPr id="7" name="CaixaDeTexto 6">
            <a:extLst>
              <a:ext uri="{FF2B5EF4-FFF2-40B4-BE49-F238E27FC236}">
                <a16:creationId xmlns:a16="http://schemas.microsoft.com/office/drawing/2014/main" id="{4E041CA6-3D0F-DC9F-3CBF-4B62EF3436C7}"/>
              </a:ext>
            </a:extLst>
          </p:cNvPr>
          <p:cNvSpPr txBox="1"/>
          <p:nvPr/>
        </p:nvSpPr>
        <p:spPr>
          <a:xfrm>
            <a:off x="1669926" y="976116"/>
            <a:ext cx="6819978" cy="2893100"/>
          </a:xfrm>
          <a:prstGeom prst="rect">
            <a:avLst/>
          </a:prstGeom>
          <a:noFill/>
        </p:spPr>
        <p:txBody>
          <a:bodyPr wrap="square">
            <a:spAutoFit/>
          </a:bodyPr>
          <a:lstStyle/>
          <a:p>
            <a:pPr algn="l" fontAlgn="base">
              <a:buFont typeface="Arial" panose="020B0604020202020204" pitchFamily="34" charset="0"/>
              <a:buChar char="•"/>
            </a:pPr>
            <a:r>
              <a:rPr lang="pt-BR" b="0" i="0" dirty="0">
                <a:solidFill>
                  <a:schemeClr val="tx1"/>
                </a:solidFill>
                <a:effectLst/>
                <a:latin typeface="Source Serif Pro" panose="02040603050405020204" pitchFamily="18" charset="0"/>
                <a:ea typeface="Source Serif Pro" panose="02040603050405020204" pitchFamily="18" charset="0"/>
              </a:rPr>
              <a:t>Eles não servem apenas para verificar se uma função está funcionando, mas sim para garantir que a função se mantenha em funcionamento após alguma alteração na base do código; </a:t>
            </a:r>
          </a:p>
          <a:p>
            <a:pPr algn="l" fontAlgn="base">
              <a:buFont typeface="Arial" panose="020B0604020202020204" pitchFamily="34" charset="0"/>
              <a:buChar char="•"/>
            </a:pPr>
            <a:endParaRPr lang="pt-BR" b="0" i="0" dirty="0">
              <a:solidFill>
                <a:schemeClr val="tx1"/>
              </a:solidFill>
              <a:effectLst/>
              <a:latin typeface="Source Serif Pro" panose="02040603050405020204" pitchFamily="18" charset="0"/>
              <a:ea typeface="Source Serif Pro" panose="02040603050405020204" pitchFamily="18" charset="0"/>
            </a:endParaRPr>
          </a:p>
          <a:p>
            <a:pPr algn="l" fontAlgn="base">
              <a:buFont typeface="Arial" panose="020B0604020202020204" pitchFamily="34" charset="0"/>
              <a:buChar char="•"/>
            </a:pPr>
            <a:r>
              <a:rPr lang="pt-BR" b="0" i="0" dirty="0">
                <a:solidFill>
                  <a:schemeClr val="tx1"/>
                </a:solidFill>
                <a:effectLst/>
                <a:latin typeface="Source Serif Pro" panose="02040603050405020204" pitchFamily="18" charset="0"/>
                <a:ea typeface="Source Serif Pro" panose="02040603050405020204" pitchFamily="18" charset="0"/>
              </a:rPr>
              <a:t>Prevenir problemas futuros;</a:t>
            </a:r>
          </a:p>
          <a:p>
            <a:pPr algn="l" fontAlgn="base">
              <a:buFont typeface="Arial" panose="020B0604020202020204" pitchFamily="34" charset="0"/>
              <a:buChar char="•"/>
            </a:pPr>
            <a:endParaRPr lang="pt-BR" b="0" i="0" dirty="0">
              <a:solidFill>
                <a:schemeClr val="tx1"/>
              </a:solidFill>
              <a:effectLst/>
              <a:latin typeface="Source Serif Pro" panose="02040603050405020204" pitchFamily="18" charset="0"/>
              <a:ea typeface="Source Serif Pro" panose="02040603050405020204" pitchFamily="18" charset="0"/>
            </a:endParaRPr>
          </a:p>
          <a:p>
            <a:pPr algn="l" fontAlgn="base">
              <a:buFont typeface="Arial" panose="020B0604020202020204" pitchFamily="34" charset="0"/>
              <a:buChar char="•"/>
            </a:pPr>
            <a:r>
              <a:rPr lang="pt-BR" b="0" i="0" dirty="0">
                <a:solidFill>
                  <a:schemeClr val="tx1"/>
                </a:solidFill>
                <a:effectLst/>
                <a:latin typeface="Source Serif Pro" panose="02040603050405020204" pitchFamily="18" charset="0"/>
                <a:ea typeface="Source Serif Pro" panose="02040603050405020204" pitchFamily="18" charset="0"/>
              </a:rPr>
              <a:t>Garantir um software de qualidade:</a:t>
            </a:r>
          </a:p>
          <a:p>
            <a:pPr algn="l" fontAlgn="base">
              <a:buFont typeface="Arial" panose="020B0604020202020204" pitchFamily="34" charset="0"/>
              <a:buChar char="•"/>
            </a:pPr>
            <a:endParaRPr lang="pt-BR" b="0" i="0" dirty="0">
              <a:solidFill>
                <a:schemeClr val="tx1"/>
              </a:solidFill>
              <a:effectLst/>
              <a:latin typeface="Source Serif Pro" panose="02040603050405020204" pitchFamily="18" charset="0"/>
              <a:ea typeface="Source Serif Pro" panose="02040603050405020204" pitchFamily="18" charset="0"/>
            </a:endParaRPr>
          </a:p>
          <a:p>
            <a:pPr algn="l" fontAlgn="base">
              <a:buFont typeface="Arial" panose="020B0604020202020204" pitchFamily="34" charset="0"/>
              <a:buChar char="•"/>
            </a:pPr>
            <a:r>
              <a:rPr lang="pt-BR" b="0" i="0" dirty="0">
                <a:solidFill>
                  <a:schemeClr val="tx1"/>
                </a:solidFill>
                <a:effectLst/>
                <a:latin typeface="Source Serif Pro" panose="02040603050405020204" pitchFamily="18" charset="0"/>
                <a:ea typeface="Source Serif Pro" panose="02040603050405020204" pitchFamily="18" charset="0"/>
              </a:rPr>
              <a:t>Aumentar a produtividade da pessoa desenvolvedora; </a:t>
            </a:r>
          </a:p>
          <a:p>
            <a:pPr algn="l" fontAlgn="base">
              <a:buFont typeface="Arial" panose="020B0604020202020204" pitchFamily="34" charset="0"/>
              <a:buChar char="•"/>
            </a:pPr>
            <a:endParaRPr lang="pt-BR" b="0" i="0" dirty="0">
              <a:solidFill>
                <a:schemeClr val="tx1"/>
              </a:solidFill>
              <a:effectLst/>
              <a:latin typeface="Source Serif Pro" panose="02040603050405020204" pitchFamily="18" charset="0"/>
              <a:ea typeface="Source Serif Pro" panose="02040603050405020204" pitchFamily="18" charset="0"/>
            </a:endParaRPr>
          </a:p>
          <a:p>
            <a:pPr algn="l" fontAlgn="base">
              <a:buFont typeface="Arial" panose="020B0604020202020204" pitchFamily="34" charset="0"/>
              <a:buChar char="•"/>
            </a:pPr>
            <a:r>
              <a:rPr lang="pt-BR" b="0" i="0" dirty="0">
                <a:solidFill>
                  <a:schemeClr val="tx1"/>
                </a:solidFill>
                <a:effectLst/>
                <a:latin typeface="Source Serif Pro" panose="02040603050405020204" pitchFamily="18" charset="0"/>
                <a:ea typeface="Source Serif Pro" panose="02040603050405020204" pitchFamily="18" charset="0"/>
              </a:rPr>
              <a:t>Aumentar a velocidade do código;</a:t>
            </a:r>
          </a:p>
          <a:p>
            <a:pPr algn="l" fontAlgn="base">
              <a:buFont typeface="Arial" panose="020B0604020202020204" pitchFamily="34" charset="0"/>
              <a:buChar char="•"/>
            </a:pPr>
            <a:endParaRPr lang="pt-BR" b="0" i="0" dirty="0">
              <a:solidFill>
                <a:schemeClr val="tx1"/>
              </a:solidFill>
              <a:effectLst/>
              <a:latin typeface="Source Serif Pro" panose="02040603050405020204" pitchFamily="18" charset="0"/>
              <a:ea typeface="Source Serif Pro" panose="02040603050405020204" pitchFamily="18" charset="0"/>
            </a:endParaRPr>
          </a:p>
          <a:p>
            <a:pPr algn="l" fontAlgn="base">
              <a:buFont typeface="Arial" panose="020B0604020202020204" pitchFamily="34" charset="0"/>
              <a:buChar char="•"/>
            </a:pPr>
            <a:r>
              <a:rPr lang="pt-BR" b="0" i="0" dirty="0">
                <a:solidFill>
                  <a:schemeClr val="tx1"/>
                </a:solidFill>
                <a:effectLst/>
                <a:latin typeface="Source Serif Pro" panose="02040603050405020204" pitchFamily="18" charset="0"/>
                <a:ea typeface="Source Serif Pro" panose="02040603050405020204" pitchFamily="18" charset="0"/>
              </a:rPr>
              <a:t>Garantir a eficiência do escopo escolhido. </a:t>
            </a:r>
          </a:p>
        </p:txBody>
      </p:sp>
    </p:spTree>
    <p:extLst>
      <p:ext uri="{BB962C8B-B14F-4D97-AF65-F5344CB8AC3E}">
        <p14:creationId xmlns:p14="http://schemas.microsoft.com/office/powerpoint/2010/main" val="34803226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132485"/>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Testes Unitários - Vantagens</a:t>
            </a:r>
            <a:endParaRPr sz="2400" b="0" i="0" u="none" strike="noStrike" cap="none" dirty="0">
              <a:solidFill>
                <a:schemeClr val="dk1"/>
              </a:solidFill>
              <a:latin typeface="Times New Roman"/>
              <a:ea typeface="Times New Roman"/>
              <a:cs typeface="Times New Roman"/>
              <a:sym typeface="Times New Roman"/>
            </a:endParaRPr>
          </a:p>
        </p:txBody>
      </p:sp>
      <p:sp>
        <p:nvSpPr>
          <p:cNvPr id="4" name="CaixaDeTexto 3">
            <a:extLst>
              <a:ext uri="{FF2B5EF4-FFF2-40B4-BE49-F238E27FC236}">
                <a16:creationId xmlns:a16="http://schemas.microsoft.com/office/drawing/2014/main" id="{0008576F-6EAB-2F2C-51EB-E449DD563A32}"/>
              </a:ext>
            </a:extLst>
          </p:cNvPr>
          <p:cNvSpPr txBox="1"/>
          <p:nvPr/>
        </p:nvSpPr>
        <p:spPr>
          <a:xfrm>
            <a:off x="1900752" y="779155"/>
            <a:ext cx="6530952" cy="4154984"/>
          </a:xfrm>
          <a:prstGeom prst="rect">
            <a:avLst/>
          </a:prstGeom>
          <a:noFill/>
        </p:spPr>
        <p:txBody>
          <a:bodyPr wrap="square">
            <a:spAutoFit/>
          </a:bodyPr>
          <a:lstStyle/>
          <a:p>
            <a:pPr algn="l" fontAlgn="base">
              <a:buFont typeface="Arial" panose="020B0604020202020204" pitchFamily="34" charset="0"/>
              <a:buChar char="•"/>
            </a:pPr>
            <a:r>
              <a:rPr lang="pt-BR" sz="1200" b="0" i="0" dirty="0">
                <a:solidFill>
                  <a:srgbClr val="000000"/>
                </a:solidFill>
                <a:effectLst/>
                <a:latin typeface="Source Serif Pro" panose="02040603050405020204" pitchFamily="18" charset="0"/>
                <a:ea typeface="Source Serif Pro" panose="02040603050405020204" pitchFamily="18" charset="0"/>
              </a:rPr>
              <a:t>Você economiza muito tempo nos testes de regressão.</a:t>
            </a:r>
          </a:p>
          <a:p>
            <a:pPr algn="l" fontAlgn="base">
              <a:buFont typeface="Arial" panose="020B0604020202020204" pitchFamily="34" charset="0"/>
              <a:buChar char="•"/>
            </a:pPr>
            <a:endParaRPr lang="pt-BR" sz="1200" b="0" i="0" dirty="0">
              <a:solidFill>
                <a:srgbClr val="000000"/>
              </a:solidFill>
              <a:effectLst/>
              <a:latin typeface="Source Serif Pro" panose="02040603050405020204" pitchFamily="18" charset="0"/>
              <a:ea typeface="Source Serif Pro" panose="02040603050405020204" pitchFamily="18" charset="0"/>
            </a:endParaRPr>
          </a:p>
          <a:p>
            <a:pPr algn="l" fontAlgn="base">
              <a:buFont typeface="Arial" panose="020B0604020202020204" pitchFamily="34" charset="0"/>
              <a:buChar char="•"/>
            </a:pPr>
            <a:r>
              <a:rPr lang="pt-BR" sz="1200" b="0" i="0" dirty="0">
                <a:solidFill>
                  <a:srgbClr val="000000"/>
                </a:solidFill>
                <a:effectLst/>
                <a:latin typeface="Source Serif Pro" panose="02040603050405020204" pitchFamily="18" charset="0"/>
                <a:ea typeface="Source Serif Pro" panose="02040603050405020204" pitchFamily="18" charset="0"/>
              </a:rPr>
              <a:t>Você recebe um alerta sempre que, inadvertidamente, quebra um comportamento existente. Permitindo que você o enfrente imediatamente enquanto ainda está totalmente imerso no que você está trabalhando. Significa menos bugs escapando.</a:t>
            </a:r>
          </a:p>
          <a:p>
            <a:pPr algn="l" fontAlgn="base">
              <a:buFont typeface="Arial" panose="020B0604020202020204" pitchFamily="34" charset="0"/>
              <a:buChar char="•"/>
            </a:pPr>
            <a:endParaRPr lang="pt-BR" sz="1200" b="0" i="0" dirty="0">
              <a:solidFill>
                <a:srgbClr val="000000"/>
              </a:solidFill>
              <a:effectLst/>
              <a:latin typeface="Source Serif Pro" panose="02040603050405020204" pitchFamily="18" charset="0"/>
              <a:ea typeface="Source Serif Pro" panose="02040603050405020204" pitchFamily="18" charset="0"/>
            </a:endParaRPr>
          </a:p>
          <a:p>
            <a:pPr algn="l" fontAlgn="base">
              <a:buFont typeface="Arial" panose="020B0604020202020204" pitchFamily="34" charset="0"/>
              <a:buChar char="•"/>
            </a:pPr>
            <a:r>
              <a:rPr lang="pt-BR" sz="1200" b="0" i="0" dirty="0">
                <a:solidFill>
                  <a:srgbClr val="000000"/>
                </a:solidFill>
                <a:effectLst/>
                <a:latin typeface="Source Serif Pro" panose="02040603050405020204" pitchFamily="18" charset="0"/>
                <a:ea typeface="Source Serif Pro" panose="02040603050405020204" pitchFamily="18" charset="0"/>
              </a:rPr>
              <a:t>Menos bugs escapando significa que você tem mais tempo para desenvolver valor.</a:t>
            </a:r>
          </a:p>
          <a:p>
            <a:pPr algn="l" fontAlgn="base">
              <a:buFont typeface="Arial" panose="020B0604020202020204" pitchFamily="34" charset="0"/>
              <a:buChar char="•"/>
            </a:pPr>
            <a:endParaRPr lang="pt-BR" sz="1200" b="0" i="0" dirty="0">
              <a:solidFill>
                <a:srgbClr val="000000"/>
              </a:solidFill>
              <a:effectLst/>
              <a:latin typeface="Source Serif Pro" panose="02040603050405020204" pitchFamily="18" charset="0"/>
              <a:ea typeface="Source Serif Pro" panose="02040603050405020204" pitchFamily="18" charset="0"/>
            </a:endParaRPr>
          </a:p>
          <a:p>
            <a:pPr algn="l" fontAlgn="base">
              <a:buFont typeface="Arial" panose="020B0604020202020204" pitchFamily="34" charset="0"/>
              <a:buChar char="•"/>
            </a:pPr>
            <a:r>
              <a:rPr lang="pt-BR" sz="1200" b="0" i="0" dirty="0">
                <a:solidFill>
                  <a:srgbClr val="000000"/>
                </a:solidFill>
                <a:effectLst/>
                <a:latin typeface="Source Serif Pro" panose="02040603050405020204" pitchFamily="18" charset="0"/>
                <a:ea typeface="Source Serif Pro" panose="02040603050405020204" pitchFamily="18" charset="0"/>
              </a:rPr>
              <a:t>Trabalhando sem medo de quebrar o código existente sem saber, você possui mais recursos cognitivos preciosos. Significa que você será mais criativo e inovador, e capaz de criar soluções melhores.</a:t>
            </a:r>
          </a:p>
          <a:p>
            <a:pPr algn="l" fontAlgn="base">
              <a:buFont typeface="Arial" panose="020B0604020202020204" pitchFamily="34" charset="0"/>
              <a:buChar char="•"/>
            </a:pPr>
            <a:endParaRPr lang="pt-BR" sz="1200" b="0" i="0" dirty="0">
              <a:solidFill>
                <a:srgbClr val="000000"/>
              </a:solidFill>
              <a:effectLst/>
              <a:latin typeface="Source Serif Pro" panose="02040603050405020204" pitchFamily="18" charset="0"/>
              <a:ea typeface="Source Serif Pro" panose="02040603050405020204" pitchFamily="18" charset="0"/>
            </a:endParaRPr>
          </a:p>
          <a:p>
            <a:pPr algn="l" fontAlgn="base">
              <a:buFont typeface="Arial" panose="020B0604020202020204" pitchFamily="34" charset="0"/>
              <a:buChar char="•"/>
            </a:pPr>
            <a:r>
              <a:rPr lang="pt-BR" sz="1200" b="0" i="0" dirty="0">
                <a:solidFill>
                  <a:srgbClr val="000000"/>
                </a:solidFill>
                <a:effectLst/>
                <a:latin typeface="Source Serif Pro" panose="02040603050405020204" pitchFamily="18" charset="0"/>
                <a:ea typeface="Source Serif Pro" panose="02040603050405020204" pitchFamily="18" charset="0"/>
              </a:rPr>
              <a:t>Você recebe documentação viva, respirando, nunca desatualizada – pelo menos quando você dá a cada teste unitário um nome significativo (mais sobre isso depois).</a:t>
            </a:r>
          </a:p>
          <a:p>
            <a:pPr algn="l" fontAlgn="base">
              <a:buFont typeface="Arial" panose="020B0604020202020204" pitchFamily="34" charset="0"/>
              <a:buChar char="•"/>
            </a:pPr>
            <a:endParaRPr lang="pt-BR" sz="1200" b="0" i="0" dirty="0">
              <a:solidFill>
                <a:srgbClr val="000000"/>
              </a:solidFill>
              <a:effectLst/>
              <a:latin typeface="Source Serif Pro" panose="02040603050405020204" pitchFamily="18" charset="0"/>
              <a:ea typeface="Source Serif Pro" panose="02040603050405020204" pitchFamily="18" charset="0"/>
            </a:endParaRPr>
          </a:p>
          <a:p>
            <a:pPr algn="l" fontAlgn="base">
              <a:buFont typeface="Arial" panose="020B0604020202020204" pitchFamily="34" charset="0"/>
              <a:buChar char="•"/>
            </a:pPr>
            <a:r>
              <a:rPr lang="pt-BR" sz="1200" b="0" i="0" dirty="0">
                <a:solidFill>
                  <a:srgbClr val="000000"/>
                </a:solidFill>
                <a:effectLst/>
                <a:latin typeface="Source Serif Pro" panose="02040603050405020204" pitchFamily="18" charset="0"/>
                <a:ea typeface="Source Serif Pro" panose="02040603050405020204" pitchFamily="18" charset="0"/>
              </a:rPr>
              <a:t>Uma documentação sempre atualizada permite que você acelere os novos contratados.</a:t>
            </a:r>
          </a:p>
          <a:p>
            <a:pPr algn="l" fontAlgn="base">
              <a:buFont typeface="Arial" panose="020B0604020202020204" pitchFamily="34" charset="0"/>
              <a:buChar char="•"/>
            </a:pPr>
            <a:endParaRPr lang="pt-BR" sz="1200" b="0" i="0" dirty="0">
              <a:solidFill>
                <a:srgbClr val="000000"/>
              </a:solidFill>
              <a:effectLst/>
              <a:latin typeface="Source Serif Pro" panose="02040603050405020204" pitchFamily="18" charset="0"/>
              <a:ea typeface="Source Serif Pro" panose="02040603050405020204" pitchFamily="18" charset="0"/>
            </a:endParaRPr>
          </a:p>
          <a:p>
            <a:pPr algn="l" fontAlgn="base">
              <a:buFont typeface="Arial" panose="020B0604020202020204" pitchFamily="34" charset="0"/>
              <a:buChar char="•"/>
            </a:pPr>
            <a:r>
              <a:rPr lang="pt-BR" sz="1200" b="0" i="0" dirty="0">
                <a:solidFill>
                  <a:srgbClr val="000000"/>
                </a:solidFill>
                <a:effectLst/>
                <a:latin typeface="Source Serif Pro" panose="02040603050405020204" pitchFamily="18" charset="0"/>
                <a:ea typeface="Source Serif Pro" panose="02040603050405020204" pitchFamily="18" charset="0"/>
              </a:rPr>
              <a:t>Trabalhando sem medo de quebrar o código existente sem saber, novos membros da equipe se tornam produtivos mais rapidamente.</a:t>
            </a:r>
          </a:p>
          <a:p>
            <a:pPr algn="l" fontAlgn="base">
              <a:buFont typeface="Arial" panose="020B0604020202020204" pitchFamily="34" charset="0"/>
              <a:buChar char="•"/>
            </a:pPr>
            <a:endParaRPr lang="pt-BR" sz="1200" b="0" i="0" dirty="0">
              <a:solidFill>
                <a:srgbClr val="000000"/>
              </a:solidFill>
              <a:effectLst/>
              <a:latin typeface="Source Serif Pro" panose="02040603050405020204" pitchFamily="18" charset="0"/>
              <a:ea typeface="Source Serif Pro" panose="02040603050405020204" pitchFamily="18" charset="0"/>
            </a:endParaRPr>
          </a:p>
          <a:p>
            <a:pPr algn="l" fontAlgn="base">
              <a:buFont typeface="Arial" panose="020B0604020202020204" pitchFamily="34" charset="0"/>
              <a:buChar char="•"/>
            </a:pPr>
            <a:r>
              <a:rPr lang="pt-BR" sz="1200" b="0" i="0" dirty="0">
                <a:solidFill>
                  <a:srgbClr val="000000"/>
                </a:solidFill>
                <a:effectLst/>
                <a:latin typeface="Source Serif Pro" panose="02040603050405020204" pitchFamily="18" charset="0"/>
                <a:ea typeface="Source Serif Pro" panose="02040603050405020204" pitchFamily="18" charset="0"/>
              </a:rPr>
              <a:t>Menos bugs também significa que você reduzirá a carga da equipe de suporte e os liberará para se concentrar no sucesso do cliente ao invés de controlar os danos.</a:t>
            </a:r>
          </a:p>
        </p:txBody>
      </p:sp>
    </p:spTree>
    <p:extLst>
      <p:ext uri="{BB962C8B-B14F-4D97-AF65-F5344CB8AC3E}">
        <p14:creationId xmlns:p14="http://schemas.microsoft.com/office/powerpoint/2010/main" val="15131487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132485"/>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Testes Unitários - </a:t>
            </a:r>
            <a:r>
              <a:rPr lang="pt-BR" sz="2400" b="1" i="0" u="none" strike="noStrike" cap="none" dirty="0" err="1">
                <a:solidFill>
                  <a:schemeClr val="dk1"/>
                </a:solidFill>
                <a:latin typeface="Times New Roman"/>
                <a:ea typeface="Times New Roman"/>
                <a:cs typeface="Times New Roman"/>
                <a:sym typeface="Times New Roman"/>
              </a:rPr>
              <a:t>PyUnit</a:t>
            </a:r>
            <a:endParaRPr sz="2400" b="0" i="0" u="none" strike="noStrike" cap="none" dirty="0">
              <a:solidFill>
                <a:schemeClr val="dk1"/>
              </a:solidFill>
              <a:latin typeface="Times New Roman"/>
              <a:ea typeface="Times New Roman"/>
              <a:cs typeface="Times New Roman"/>
              <a:sym typeface="Times New Roman"/>
            </a:endParaRPr>
          </a:p>
        </p:txBody>
      </p:sp>
      <p:sp>
        <p:nvSpPr>
          <p:cNvPr id="4" name="CaixaDeTexto 3">
            <a:extLst>
              <a:ext uri="{FF2B5EF4-FFF2-40B4-BE49-F238E27FC236}">
                <a16:creationId xmlns:a16="http://schemas.microsoft.com/office/drawing/2014/main" id="{0008576F-6EAB-2F2C-51EB-E449DD563A32}"/>
              </a:ext>
            </a:extLst>
          </p:cNvPr>
          <p:cNvSpPr txBox="1"/>
          <p:nvPr/>
        </p:nvSpPr>
        <p:spPr>
          <a:xfrm>
            <a:off x="1669926" y="739108"/>
            <a:ext cx="6530952" cy="738664"/>
          </a:xfrm>
          <a:prstGeom prst="rect">
            <a:avLst/>
          </a:prstGeom>
          <a:noFill/>
        </p:spPr>
        <p:txBody>
          <a:bodyPr wrap="square">
            <a:spAutoFit/>
          </a:bodyPr>
          <a:lstStyle/>
          <a:p>
            <a:pPr algn="l" fontAlgn="base"/>
            <a:r>
              <a:rPr lang="pt-BR" b="1" i="0" dirty="0">
                <a:solidFill>
                  <a:srgbClr val="253A44"/>
                </a:solidFill>
                <a:effectLst/>
                <a:latin typeface="Source Serif Pro" panose="02040603050405020204" pitchFamily="18" charset="0"/>
              </a:rPr>
              <a:t>O </a:t>
            </a:r>
            <a:r>
              <a:rPr lang="pt-BR" b="1" i="0" dirty="0" err="1">
                <a:solidFill>
                  <a:srgbClr val="253A44"/>
                </a:solidFill>
                <a:effectLst/>
                <a:latin typeface="Source Serif Pro" panose="02040603050405020204" pitchFamily="18" charset="0"/>
              </a:rPr>
              <a:t>PyUnit</a:t>
            </a:r>
            <a:r>
              <a:rPr lang="pt-BR" b="1" i="0" dirty="0">
                <a:solidFill>
                  <a:srgbClr val="253A44"/>
                </a:solidFill>
                <a:effectLst/>
                <a:latin typeface="Source Serif Pro" panose="02040603050405020204" pitchFamily="18" charset="0"/>
              </a:rPr>
              <a:t> é uma biblioteca para realização de testes unitários em Python</a:t>
            </a:r>
            <a:r>
              <a:rPr lang="pt-BR" b="0" i="0" dirty="0">
                <a:solidFill>
                  <a:srgbClr val="253A44"/>
                </a:solidFill>
                <a:effectLst/>
                <a:latin typeface="Source Serif Pro" panose="02040603050405020204" pitchFamily="18" charset="0"/>
              </a:rPr>
              <a:t>. É a forma mais difundida para realizar a prática de testes unitários pela comunidade Python.</a:t>
            </a:r>
            <a:endParaRPr lang="pt-BR" b="0" i="0" dirty="0">
              <a:solidFill>
                <a:srgbClr val="000000"/>
              </a:solidFill>
              <a:effectLst/>
              <a:latin typeface="Source Serif Pro" panose="02040603050405020204" pitchFamily="18" charset="0"/>
              <a:ea typeface="Source Serif Pro" panose="02040603050405020204" pitchFamily="18" charset="0"/>
            </a:endParaRPr>
          </a:p>
        </p:txBody>
      </p:sp>
      <p:sp>
        <p:nvSpPr>
          <p:cNvPr id="5" name="CaixaDeTexto 4">
            <a:extLst>
              <a:ext uri="{FF2B5EF4-FFF2-40B4-BE49-F238E27FC236}">
                <a16:creationId xmlns:a16="http://schemas.microsoft.com/office/drawing/2014/main" id="{CD668487-5228-5B87-A6C4-38F6C40720B1}"/>
              </a:ext>
            </a:extLst>
          </p:cNvPr>
          <p:cNvSpPr txBox="1"/>
          <p:nvPr/>
        </p:nvSpPr>
        <p:spPr>
          <a:xfrm>
            <a:off x="1669926" y="1485284"/>
            <a:ext cx="6475532" cy="954107"/>
          </a:xfrm>
          <a:prstGeom prst="rect">
            <a:avLst/>
          </a:prstGeom>
          <a:noFill/>
        </p:spPr>
        <p:txBody>
          <a:bodyPr wrap="square">
            <a:spAutoFit/>
          </a:bodyPr>
          <a:lstStyle/>
          <a:p>
            <a:r>
              <a:rPr lang="pt-BR" b="0" i="0" dirty="0">
                <a:solidFill>
                  <a:srgbClr val="253A44"/>
                </a:solidFill>
                <a:effectLst/>
                <a:latin typeface="Source Serif Pro" panose="02040603050405020204" pitchFamily="18" charset="0"/>
              </a:rPr>
              <a:t>O </a:t>
            </a:r>
            <a:r>
              <a:rPr lang="pt-BR" b="0" i="0" dirty="0" err="1">
                <a:solidFill>
                  <a:srgbClr val="253A44"/>
                </a:solidFill>
                <a:effectLst/>
                <a:latin typeface="Source Serif Pro" panose="02040603050405020204" pitchFamily="18" charset="0"/>
              </a:rPr>
              <a:t>PyUnit</a:t>
            </a:r>
            <a:r>
              <a:rPr lang="pt-BR" b="0" i="0" dirty="0">
                <a:solidFill>
                  <a:srgbClr val="253A44"/>
                </a:solidFill>
                <a:effectLst/>
                <a:latin typeface="Source Serif Pro" panose="02040603050405020204" pitchFamily="18" charset="0"/>
              </a:rPr>
              <a:t> foi criado com o intuito de trazer ao </a:t>
            </a:r>
            <a:r>
              <a:rPr lang="pt-BR" b="1" i="0" dirty="0">
                <a:solidFill>
                  <a:srgbClr val="253A44"/>
                </a:solidFill>
                <a:effectLst/>
                <a:latin typeface="Source Serif Pro" panose="02040603050405020204" pitchFamily="18" charset="0"/>
              </a:rPr>
              <a:t>Python</a:t>
            </a:r>
            <a:r>
              <a:rPr lang="pt-BR" b="0" i="0" dirty="0">
                <a:solidFill>
                  <a:srgbClr val="253A44"/>
                </a:solidFill>
                <a:effectLst/>
                <a:latin typeface="Source Serif Pro" panose="02040603050405020204" pitchFamily="18" charset="0"/>
              </a:rPr>
              <a:t> todos os recursos que já haviam no framework de teste unitário </a:t>
            </a:r>
            <a:r>
              <a:rPr lang="pt-BR" b="0" i="0" dirty="0" err="1">
                <a:solidFill>
                  <a:srgbClr val="253A44"/>
                </a:solidFill>
                <a:effectLst/>
                <a:latin typeface="Source Serif Pro" panose="02040603050405020204" pitchFamily="18" charset="0"/>
              </a:rPr>
              <a:t>JUnit</a:t>
            </a:r>
            <a:r>
              <a:rPr lang="pt-BR" b="0" i="0" dirty="0">
                <a:solidFill>
                  <a:srgbClr val="253A44"/>
                </a:solidFill>
                <a:effectLst/>
                <a:latin typeface="Source Serif Pro" panose="02040603050405020204" pitchFamily="18" charset="0"/>
              </a:rPr>
              <a:t> da linguagem </a:t>
            </a:r>
            <a:r>
              <a:rPr lang="pt-BR" b="1" i="0" u="none" strike="noStrike" dirty="0">
                <a:solidFill>
                  <a:srgbClr val="253A44"/>
                </a:solidFill>
                <a:effectLst/>
                <a:latin typeface="Montserrat" panose="00000500000000000000" pitchFamily="2" charset="0"/>
                <a:hlinkClick r:id="rId3" tooltip="Java"/>
              </a:rPr>
              <a:t>Java</a:t>
            </a:r>
            <a:r>
              <a:rPr lang="pt-BR" b="0" i="0" dirty="0">
                <a:solidFill>
                  <a:srgbClr val="253A44"/>
                </a:solidFill>
                <a:effectLst/>
                <a:latin typeface="Source Serif Pro" panose="02040603050405020204" pitchFamily="18" charset="0"/>
              </a:rPr>
              <a:t>, a ferramenta evoluiu de forma a explorar plenamente os recursos da linguagem e se adequar ao jeito </a:t>
            </a:r>
            <a:r>
              <a:rPr lang="pt-BR" b="0" i="0" dirty="0" err="1">
                <a:solidFill>
                  <a:srgbClr val="253A44"/>
                </a:solidFill>
                <a:effectLst/>
                <a:latin typeface="Source Serif Pro" panose="02040603050405020204" pitchFamily="18" charset="0"/>
              </a:rPr>
              <a:t>pythonico</a:t>
            </a:r>
            <a:r>
              <a:rPr lang="pt-BR" b="0" i="0" dirty="0">
                <a:solidFill>
                  <a:srgbClr val="253A44"/>
                </a:solidFill>
                <a:effectLst/>
                <a:latin typeface="Source Serif Pro" panose="02040603050405020204" pitchFamily="18" charset="0"/>
              </a:rPr>
              <a:t> de escrever código.</a:t>
            </a:r>
            <a:endParaRPr lang="pt-BR" dirty="0"/>
          </a:p>
        </p:txBody>
      </p:sp>
      <p:sp>
        <p:nvSpPr>
          <p:cNvPr id="7" name="CaixaDeTexto 6">
            <a:extLst>
              <a:ext uri="{FF2B5EF4-FFF2-40B4-BE49-F238E27FC236}">
                <a16:creationId xmlns:a16="http://schemas.microsoft.com/office/drawing/2014/main" id="{64CCB94D-6D0C-BEFA-6741-2B8927B71093}"/>
              </a:ext>
            </a:extLst>
          </p:cNvPr>
          <p:cNvSpPr txBox="1"/>
          <p:nvPr/>
        </p:nvSpPr>
        <p:spPr>
          <a:xfrm>
            <a:off x="1669926" y="2492329"/>
            <a:ext cx="6530951" cy="954107"/>
          </a:xfrm>
          <a:prstGeom prst="rect">
            <a:avLst/>
          </a:prstGeom>
          <a:noFill/>
        </p:spPr>
        <p:txBody>
          <a:bodyPr wrap="square">
            <a:spAutoFit/>
          </a:bodyPr>
          <a:lstStyle/>
          <a:p>
            <a:r>
              <a:rPr lang="pt-BR" b="0" i="0" dirty="0">
                <a:solidFill>
                  <a:srgbClr val="253A44"/>
                </a:solidFill>
                <a:effectLst/>
                <a:latin typeface="Source Serif Pro" panose="02040603050405020204" pitchFamily="18" charset="0"/>
              </a:rPr>
              <a:t>Por exemplo, quando precisamos testar se um método de consulta está buscando o registro certo, o mais comum é chamar esse método dentro da cláusula </a:t>
            </a:r>
            <a:r>
              <a:rPr lang="pt-BR" b="0" i="0" dirty="0" err="1">
                <a:solidFill>
                  <a:srgbClr val="253A44"/>
                </a:solidFill>
                <a:effectLst/>
                <a:latin typeface="Source Serif Pro" panose="02040603050405020204" pitchFamily="18" charset="0"/>
              </a:rPr>
              <a:t>if</a:t>
            </a:r>
            <a:r>
              <a:rPr lang="pt-BR" b="0" i="0" dirty="0">
                <a:solidFill>
                  <a:srgbClr val="253A44"/>
                </a:solidFill>
                <a:effectLst/>
                <a:latin typeface="Source Serif Pro" panose="02040603050405020204" pitchFamily="18" charset="0"/>
              </a:rPr>
              <a:t> __</a:t>
            </a:r>
            <a:r>
              <a:rPr lang="pt-BR" b="0" i="0" dirty="0" err="1">
                <a:solidFill>
                  <a:srgbClr val="253A44"/>
                </a:solidFill>
                <a:effectLst/>
                <a:latin typeface="Source Serif Pro" panose="02040603050405020204" pitchFamily="18" charset="0"/>
              </a:rPr>
              <a:t>name</a:t>
            </a:r>
            <a:r>
              <a:rPr lang="pt-BR" b="0" i="0" dirty="0">
                <a:solidFill>
                  <a:srgbClr val="253A44"/>
                </a:solidFill>
                <a:effectLst/>
                <a:latin typeface="Source Serif Pro" panose="02040603050405020204" pitchFamily="18" charset="0"/>
              </a:rPr>
              <a:t>__ == "__</a:t>
            </a:r>
            <a:r>
              <a:rPr lang="pt-BR" b="0" i="0" dirty="0" err="1">
                <a:solidFill>
                  <a:srgbClr val="253A44"/>
                </a:solidFill>
                <a:effectLst/>
                <a:latin typeface="Source Serif Pro" panose="02040603050405020204" pitchFamily="18" charset="0"/>
              </a:rPr>
              <a:t>main</a:t>
            </a:r>
            <a:r>
              <a:rPr lang="pt-BR" b="0" i="0" dirty="0">
                <a:solidFill>
                  <a:srgbClr val="253A44"/>
                </a:solidFill>
                <a:effectLst/>
                <a:latin typeface="Source Serif Pro" panose="02040603050405020204" pitchFamily="18" charset="0"/>
              </a:rPr>
              <a:t>__":, imprimir o resultado na tela e executar o módulo onde o método é declarado.</a:t>
            </a:r>
            <a:endParaRPr lang="pt-BR" dirty="0"/>
          </a:p>
        </p:txBody>
      </p:sp>
      <p:pic>
        <p:nvPicPr>
          <p:cNvPr id="9" name="Imagem 8">
            <a:extLst>
              <a:ext uri="{FF2B5EF4-FFF2-40B4-BE49-F238E27FC236}">
                <a16:creationId xmlns:a16="http://schemas.microsoft.com/office/drawing/2014/main" id="{F94CA220-4C89-C00B-73E0-B699088E5021}"/>
              </a:ext>
            </a:extLst>
          </p:cNvPr>
          <p:cNvPicPr>
            <a:picLocks noChangeAspect="1"/>
          </p:cNvPicPr>
          <p:nvPr/>
        </p:nvPicPr>
        <p:blipFill>
          <a:blip r:embed="rId4"/>
          <a:stretch>
            <a:fillRect/>
          </a:stretch>
        </p:blipFill>
        <p:spPr>
          <a:xfrm>
            <a:off x="2231415" y="3499374"/>
            <a:ext cx="5638800" cy="1495425"/>
          </a:xfrm>
          <a:prstGeom prst="rect">
            <a:avLst/>
          </a:prstGeom>
        </p:spPr>
      </p:pic>
    </p:spTree>
    <p:extLst>
      <p:ext uri="{BB962C8B-B14F-4D97-AF65-F5344CB8AC3E}">
        <p14:creationId xmlns:p14="http://schemas.microsoft.com/office/powerpoint/2010/main" val="19637040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132485"/>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Testes Unitários - </a:t>
            </a:r>
            <a:r>
              <a:rPr lang="pt-BR" sz="2400" b="1" i="0" u="none" strike="noStrike" cap="none" dirty="0" err="1">
                <a:solidFill>
                  <a:schemeClr val="dk1"/>
                </a:solidFill>
                <a:latin typeface="Times New Roman"/>
                <a:ea typeface="Times New Roman"/>
                <a:cs typeface="Times New Roman"/>
                <a:sym typeface="Times New Roman"/>
              </a:rPr>
              <a:t>PyUnit</a:t>
            </a:r>
            <a:endParaRPr sz="2400" b="0" i="0" u="none" strike="noStrike" cap="none" dirty="0">
              <a:solidFill>
                <a:schemeClr val="dk1"/>
              </a:solidFill>
              <a:latin typeface="Times New Roman"/>
              <a:ea typeface="Times New Roman"/>
              <a:cs typeface="Times New Roman"/>
              <a:sym typeface="Times New Roman"/>
            </a:endParaRPr>
          </a:p>
        </p:txBody>
      </p:sp>
      <p:sp>
        <p:nvSpPr>
          <p:cNvPr id="4" name="CaixaDeTexto 3">
            <a:extLst>
              <a:ext uri="{FF2B5EF4-FFF2-40B4-BE49-F238E27FC236}">
                <a16:creationId xmlns:a16="http://schemas.microsoft.com/office/drawing/2014/main" id="{0008576F-6EAB-2F2C-51EB-E449DD563A32}"/>
              </a:ext>
            </a:extLst>
          </p:cNvPr>
          <p:cNvSpPr txBox="1"/>
          <p:nvPr/>
        </p:nvSpPr>
        <p:spPr>
          <a:xfrm>
            <a:off x="1669926" y="739108"/>
            <a:ext cx="6530952" cy="1384995"/>
          </a:xfrm>
          <a:prstGeom prst="rect">
            <a:avLst/>
          </a:prstGeom>
          <a:noFill/>
        </p:spPr>
        <p:txBody>
          <a:bodyPr wrap="square">
            <a:spAutoFit/>
          </a:bodyPr>
          <a:lstStyle/>
          <a:p>
            <a:pPr algn="l" fontAlgn="base"/>
            <a:r>
              <a:rPr lang="pt-BR" b="0" i="0" dirty="0">
                <a:solidFill>
                  <a:srgbClr val="253A44"/>
                </a:solidFill>
                <a:effectLst/>
                <a:latin typeface="Source Serif Pro" panose="02040603050405020204" pitchFamily="18" charset="0"/>
              </a:rPr>
              <a:t>Em um projeto maior esse tipo de teste tende a se tornar inviável e inseguro a medida que a complexidade do módulo e da unidade aumentam, é natural sentir falta de uma metodologia de testes, que permita medir a cobertura de teste do código, tornando fácil criar os cenários nos quais as falhas serão percebidas. Os testes unitários suprem essas e outras carências do processo de teste de código.</a:t>
            </a:r>
            <a:endParaRPr lang="pt-BR" b="0" i="0" dirty="0">
              <a:solidFill>
                <a:srgbClr val="000000"/>
              </a:solidFill>
              <a:effectLst/>
              <a:latin typeface="Source Serif Pro" panose="02040603050405020204" pitchFamily="18" charset="0"/>
              <a:ea typeface="Source Serif Pro" panose="02040603050405020204" pitchFamily="18" charset="0"/>
            </a:endParaRPr>
          </a:p>
        </p:txBody>
      </p:sp>
      <p:pic>
        <p:nvPicPr>
          <p:cNvPr id="6" name="Imagem 5">
            <a:extLst>
              <a:ext uri="{FF2B5EF4-FFF2-40B4-BE49-F238E27FC236}">
                <a16:creationId xmlns:a16="http://schemas.microsoft.com/office/drawing/2014/main" id="{74891AF1-7866-D2A7-D858-66E01F3A3CC5}"/>
              </a:ext>
            </a:extLst>
          </p:cNvPr>
          <p:cNvPicPr>
            <a:picLocks noChangeAspect="1"/>
          </p:cNvPicPr>
          <p:nvPr/>
        </p:nvPicPr>
        <p:blipFill>
          <a:blip r:embed="rId3"/>
          <a:stretch>
            <a:fillRect/>
          </a:stretch>
        </p:blipFill>
        <p:spPr>
          <a:xfrm>
            <a:off x="1739173" y="2329131"/>
            <a:ext cx="6515100" cy="1257300"/>
          </a:xfrm>
          <a:prstGeom prst="rect">
            <a:avLst/>
          </a:prstGeom>
        </p:spPr>
      </p:pic>
    </p:spTree>
    <p:extLst>
      <p:ext uri="{BB962C8B-B14F-4D97-AF65-F5344CB8AC3E}">
        <p14:creationId xmlns:p14="http://schemas.microsoft.com/office/powerpoint/2010/main" val="2997925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132485"/>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Testes Unitários - </a:t>
            </a:r>
            <a:r>
              <a:rPr lang="pt-BR" sz="2400" b="1" i="0" u="none" strike="noStrike" cap="none" dirty="0" err="1">
                <a:solidFill>
                  <a:schemeClr val="dk1"/>
                </a:solidFill>
                <a:latin typeface="Times New Roman"/>
                <a:ea typeface="Times New Roman"/>
                <a:cs typeface="Times New Roman"/>
                <a:sym typeface="Times New Roman"/>
              </a:rPr>
              <a:t>PyUnit</a:t>
            </a:r>
            <a:endParaRPr sz="2400" b="0" i="0" u="none" strike="noStrike" cap="none" dirty="0">
              <a:solidFill>
                <a:schemeClr val="dk1"/>
              </a:solidFill>
              <a:latin typeface="Times New Roman"/>
              <a:ea typeface="Times New Roman"/>
              <a:cs typeface="Times New Roman"/>
              <a:sym typeface="Times New Roman"/>
            </a:endParaRPr>
          </a:p>
        </p:txBody>
      </p:sp>
      <p:sp>
        <p:nvSpPr>
          <p:cNvPr id="4" name="CaixaDeTexto 3">
            <a:extLst>
              <a:ext uri="{FF2B5EF4-FFF2-40B4-BE49-F238E27FC236}">
                <a16:creationId xmlns:a16="http://schemas.microsoft.com/office/drawing/2014/main" id="{0008576F-6EAB-2F2C-51EB-E449DD563A32}"/>
              </a:ext>
            </a:extLst>
          </p:cNvPr>
          <p:cNvSpPr txBox="1"/>
          <p:nvPr/>
        </p:nvSpPr>
        <p:spPr>
          <a:xfrm>
            <a:off x="1669926" y="739108"/>
            <a:ext cx="6530952" cy="1384995"/>
          </a:xfrm>
          <a:prstGeom prst="rect">
            <a:avLst/>
          </a:prstGeom>
          <a:noFill/>
        </p:spPr>
        <p:txBody>
          <a:bodyPr wrap="square">
            <a:spAutoFit/>
          </a:bodyPr>
          <a:lstStyle/>
          <a:p>
            <a:pPr algn="l" fontAlgn="base"/>
            <a:r>
              <a:rPr lang="pt-BR" b="0" i="0" dirty="0">
                <a:solidFill>
                  <a:srgbClr val="253A44"/>
                </a:solidFill>
                <a:effectLst/>
                <a:latin typeface="Source Serif Pro" panose="02040603050405020204" pitchFamily="18" charset="0"/>
              </a:rPr>
              <a:t>Em um projeto maior esse tipo de teste tende a se tornar inviável e inseguro a medida que a complexidade do módulo e da unidade aumentam, é natural sentir falta de uma metodologia de testes, que permita medir a cobertura de teste do código, tornando fácil criar os cenários nos quais as falhas serão percebidas. Os testes unitários suprem essas e outras carências do processo de teste de código.</a:t>
            </a:r>
            <a:endParaRPr lang="pt-BR" b="0" i="0" dirty="0">
              <a:solidFill>
                <a:srgbClr val="000000"/>
              </a:solidFill>
              <a:effectLst/>
              <a:latin typeface="Source Serif Pro" panose="02040603050405020204" pitchFamily="18" charset="0"/>
              <a:ea typeface="Source Serif Pro" panose="02040603050405020204" pitchFamily="18" charset="0"/>
            </a:endParaRPr>
          </a:p>
        </p:txBody>
      </p:sp>
      <p:pic>
        <p:nvPicPr>
          <p:cNvPr id="6" name="Imagem 5">
            <a:extLst>
              <a:ext uri="{FF2B5EF4-FFF2-40B4-BE49-F238E27FC236}">
                <a16:creationId xmlns:a16="http://schemas.microsoft.com/office/drawing/2014/main" id="{74891AF1-7866-D2A7-D858-66E01F3A3CC5}"/>
              </a:ext>
            </a:extLst>
          </p:cNvPr>
          <p:cNvPicPr>
            <a:picLocks noChangeAspect="1"/>
          </p:cNvPicPr>
          <p:nvPr/>
        </p:nvPicPr>
        <p:blipFill>
          <a:blip r:embed="rId3"/>
          <a:stretch>
            <a:fillRect/>
          </a:stretch>
        </p:blipFill>
        <p:spPr>
          <a:xfrm>
            <a:off x="1739173" y="2329131"/>
            <a:ext cx="6515100" cy="1257300"/>
          </a:xfrm>
          <a:prstGeom prst="rect">
            <a:avLst/>
          </a:prstGeom>
        </p:spPr>
      </p:pic>
    </p:spTree>
    <p:extLst>
      <p:ext uri="{BB962C8B-B14F-4D97-AF65-F5344CB8AC3E}">
        <p14:creationId xmlns:p14="http://schemas.microsoft.com/office/powerpoint/2010/main" val="40951065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132485"/>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Testes Unitários - </a:t>
            </a:r>
            <a:r>
              <a:rPr lang="pt-BR" sz="2400" b="1" i="0" u="none" strike="noStrike" cap="none" dirty="0" err="1">
                <a:solidFill>
                  <a:schemeClr val="dk1"/>
                </a:solidFill>
                <a:latin typeface="Times New Roman"/>
                <a:ea typeface="Times New Roman"/>
                <a:cs typeface="Times New Roman"/>
                <a:sym typeface="Times New Roman"/>
              </a:rPr>
              <a:t>PyUnit</a:t>
            </a:r>
            <a:endParaRPr sz="2400" b="0" i="0" u="none" strike="noStrike" cap="none" dirty="0">
              <a:solidFill>
                <a:schemeClr val="dk1"/>
              </a:solidFill>
              <a:latin typeface="Times New Roman"/>
              <a:ea typeface="Times New Roman"/>
              <a:cs typeface="Times New Roman"/>
              <a:sym typeface="Times New Roman"/>
            </a:endParaRPr>
          </a:p>
        </p:txBody>
      </p:sp>
      <p:sp>
        <p:nvSpPr>
          <p:cNvPr id="4" name="CaixaDeTexto 3">
            <a:extLst>
              <a:ext uri="{FF2B5EF4-FFF2-40B4-BE49-F238E27FC236}">
                <a16:creationId xmlns:a16="http://schemas.microsoft.com/office/drawing/2014/main" id="{0008576F-6EAB-2F2C-51EB-E449DD563A32}"/>
              </a:ext>
            </a:extLst>
          </p:cNvPr>
          <p:cNvSpPr txBox="1"/>
          <p:nvPr/>
        </p:nvSpPr>
        <p:spPr>
          <a:xfrm>
            <a:off x="1669926" y="656459"/>
            <a:ext cx="6530952" cy="523220"/>
          </a:xfrm>
          <a:prstGeom prst="rect">
            <a:avLst/>
          </a:prstGeom>
          <a:noFill/>
        </p:spPr>
        <p:txBody>
          <a:bodyPr wrap="square">
            <a:spAutoFit/>
          </a:bodyPr>
          <a:lstStyle/>
          <a:p>
            <a:pPr algn="l" fontAlgn="base"/>
            <a:r>
              <a:rPr lang="pt-BR" b="0" i="0" dirty="0">
                <a:solidFill>
                  <a:srgbClr val="253A44"/>
                </a:solidFill>
                <a:effectLst/>
                <a:latin typeface="Source Serif Pro" panose="02040603050405020204" pitchFamily="18" charset="0"/>
              </a:rPr>
              <a:t>Para criar testes com </a:t>
            </a:r>
            <a:r>
              <a:rPr lang="pt-BR" b="0" i="0" dirty="0" err="1">
                <a:solidFill>
                  <a:srgbClr val="253A44"/>
                </a:solidFill>
                <a:effectLst/>
                <a:latin typeface="Source Serif Pro" panose="02040603050405020204" pitchFamily="18" charset="0"/>
              </a:rPr>
              <a:t>PyUnit</a:t>
            </a:r>
            <a:r>
              <a:rPr lang="pt-BR" b="0" i="0" dirty="0">
                <a:solidFill>
                  <a:srgbClr val="253A44"/>
                </a:solidFill>
                <a:effectLst/>
                <a:latin typeface="Source Serif Pro" panose="02040603050405020204" pitchFamily="18" charset="0"/>
              </a:rPr>
              <a:t> é necessário criar uma Classe de Testes que deve </a:t>
            </a:r>
            <a:r>
              <a:rPr lang="pt-BR" b="0" i="0" dirty="0" err="1">
                <a:solidFill>
                  <a:srgbClr val="253A44"/>
                </a:solidFill>
                <a:effectLst/>
                <a:latin typeface="Source Serif Pro" panose="02040603050405020204" pitchFamily="18" charset="0"/>
              </a:rPr>
              <a:t>extender</a:t>
            </a:r>
            <a:r>
              <a:rPr lang="pt-BR" b="0" i="0" dirty="0">
                <a:solidFill>
                  <a:srgbClr val="253A44"/>
                </a:solidFill>
                <a:effectLst/>
                <a:latin typeface="Source Serif Pro" panose="02040603050405020204" pitchFamily="18" charset="0"/>
              </a:rPr>
              <a:t> a classe </a:t>
            </a:r>
            <a:r>
              <a:rPr lang="pt-BR" b="0" i="0" dirty="0" err="1">
                <a:solidFill>
                  <a:srgbClr val="253A44"/>
                </a:solidFill>
                <a:effectLst/>
                <a:latin typeface="Source Serif Pro" panose="02040603050405020204" pitchFamily="18" charset="0"/>
              </a:rPr>
              <a:t>TestCase</a:t>
            </a:r>
            <a:r>
              <a:rPr lang="pt-BR" b="0" i="0" dirty="0">
                <a:solidFill>
                  <a:srgbClr val="253A44"/>
                </a:solidFill>
                <a:effectLst/>
                <a:latin typeface="Source Serif Pro" panose="02040603050405020204" pitchFamily="18" charset="0"/>
              </a:rPr>
              <a:t> presente no módulo </a:t>
            </a:r>
            <a:r>
              <a:rPr lang="pt-BR" b="0" i="0" dirty="0" err="1">
                <a:solidFill>
                  <a:srgbClr val="253A44"/>
                </a:solidFill>
                <a:effectLst/>
                <a:latin typeface="Source Serif Pro" panose="02040603050405020204" pitchFamily="18" charset="0"/>
              </a:rPr>
              <a:t>unittest</a:t>
            </a:r>
            <a:r>
              <a:rPr lang="pt-BR" b="0" i="0" dirty="0">
                <a:solidFill>
                  <a:srgbClr val="253A44"/>
                </a:solidFill>
                <a:effectLst/>
                <a:latin typeface="Source Serif Pro" panose="02040603050405020204" pitchFamily="18" charset="0"/>
              </a:rPr>
              <a:t>.</a:t>
            </a:r>
            <a:endParaRPr lang="pt-BR" b="0" i="0" dirty="0">
              <a:solidFill>
                <a:srgbClr val="000000"/>
              </a:solidFill>
              <a:effectLst/>
              <a:latin typeface="Source Serif Pro" panose="02040603050405020204" pitchFamily="18" charset="0"/>
              <a:ea typeface="Source Serif Pro" panose="02040603050405020204" pitchFamily="18" charset="0"/>
            </a:endParaRPr>
          </a:p>
        </p:txBody>
      </p:sp>
      <p:sp>
        <p:nvSpPr>
          <p:cNvPr id="5" name="CaixaDeTexto 4">
            <a:extLst>
              <a:ext uri="{FF2B5EF4-FFF2-40B4-BE49-F238E27FC236}">
                <a16:creationId xmlns:a16="http://schemas.microsoft.com/office/drawing/2014/main" id="{C9CA2F26-8C77-DC86-087E-75EC620327C4}"/>
              </a:ext>
            </a:extLst>
          </p:cNvPr>
          <p:cNvSpPr txBox="1"/>
          <p:nvPr/>
        </p:nvSpPr>
        <p:spPr>
          <a:xfrm>
            <a:off x="1669926" y="1240289"/>
            <a:ext cx="6299370" cy="954107"/>
          </a:xfrm>
          <a:prstGeom prst="rect">
            <a:avLst/>
          </a:prstGeom>
          <a:noFill/>
        </p:spPr>
        <p:txBody>
          <a:bodyPr wrap="square">
            <a:spAutoFit/>
          </a:bodyPr>
          <a:lstStyle/>
          <a:p>
            <a:r>
              <a:rPr lang="pt-BR" b="0" i="0" dirty="0">
                <a:solidFill>
                  <a:srgbClr val="253A44"/>
                </a:solidFill>
                <a:effectLst/>
                <a:latin typeface="Source Serif Pro" panose="02040603050405020204" pitchFamily="18" charset="0"/>
              </a:rPr>
              <a:t>O </a:t>
            </a:r>
            <a:r>
              <a:rPr lang="pt-BR" b="0" i="0" dirty="0" err="1">
                <a:solidFill>
                  <a:srgbClr val="253A44"/>
                </a:solidFill>
                <a:effectLst/>
                <a:latin typeface="Source Serif Pro" panose="02040603050405020204" pitchFamily="18" charset="0"/>
              </a:rPr>
              <a:t>PyUnit</a:t>
            </a:r>
            <a:r>
              <a:rPr lang="pt-BR" b="0" i="0" dirty="0">
                <a:solidFill>
                  <a:srgbClr val="253A44"/>
                </a:solidFill>
                <a:effectLst/>
                <a:latin typeface="Source Serif Pro" panose="02040603050405020204" pitchFamily="18" charset="0"/>
              </a:rPr>
              <a:t> localiza os métodos de teste pelo prefixo </a:t>
            </a:r>
            <a:r>
              <a:rPr lang="pt-BR" b="0" i="0" dirty="0" err="1">
                <a:solidFill>
                  <a:srgbClr val="253A44"/>
                </a:solidFill>
                <a:effectLst/>
                <a:latin typeface="Source Serif Pro" panose="02040603050405020204" pitchFamily="18" charset="0"/>
              </a:rPr>
              <a:t>test</a:t>
            </a:r>
            <a:r>
              <a:rPr lang="pt-BR" b="0" i="0" dirty="0">
                <a:solidFill>
                  <a:srgbClr val="253A44"/>
                </a:solidFill>
                <a:effectLst/>
                <a:latin typeface="Source Serif Pro" panose="02040603050405020204" pitchFamily="18" charset="0"/>
              </a:rPr>
              <a:t> em seu nome. Por fim é necessário chamar a função </a:t>
            </a:r>
            <a:r>
              <a:rPr lang="pt-BR" b="0" i="0" dirty="0" err="1">
                <a:solidFill>
                  <a:srgbClr val="253A44"/>
                </a:solidFill>
                <a:effectLst/>
                <a:latin typeface="Source Serif Pro" panose="02040603050405020204" pitchFamily="18" charset="0"/>
              </a:rPr>
              <a:t>main</a:t>
            </a:r>
            <a:r>
              <a:rPr lang="pt-BR" b="0" i="0" dirty="0">
                <a:solidFill>
                  <a:srgbClr val="253A44"/>
                </a:solidFill>
                <a:effectLst/>
                <a:latin typeface="Source Serif Pro" panose="02040603050405020204" pitchFamily="18" charset="0"/>
              </a:rPr>
              <a:t> do módulo </a:t>
            </a:r>
            <a:r>
              <a:rPr lang="pt-BR" b="0" i="0" dirty="0" err="1">
                <a:solidFill>
                  <a:srgbClr val="253A44"/>
                </a:solidFill>
                <a:effectLst/>
                <a:latin typeface="Source Serif Pro" panose="02040603050405020204" pitchFamily="18" charset="0"/>
              </a:rPr>
              <a:t>unittest</a:t>
            </a:r>
            <a:r>
              <a:rPr lang="pt-BR" b="0" i="0" dirty="0">
                <a:solidFill>
                  <a:srgbClr val="253A44"/>
                </a:solidFill>
                <a:effectLst/>
                <a:latin typeface="Source Serif Pro" panose="02040603050405020204" pitchFamily="18" charset="0"/>
              </a:rPr>
              <a:t> dentro da expressão </a:t>
            </a:r>
            <a:r>
              <a:rPr lang="pt-BR" b="0" i="0" dirty="0" err="1">
                <a:solidFill>
                  <a:srgbClr val="253A44"/>
                </a:solidFill>
                <a:effectLst/>
                <a:latin typeface="Source Serif Pro" panose="02040603050405020204" pitchFamily="18" charset="0"/>
              </a:rPr>
              <a:t>if</a:t>
            </a:r>
            <a:r>
              <a:rPr lang="pt-BR" b="0" i="0" dirty="0">
                <a:solidFill>
                  <a:srgbClr val="253A44"/>
                </a:solidFill>
                <a:effectLst/>
                <a:latin typeface="Source Serif Pro" panose="02040603050405020204" pitchFamily="18" charset="0"/>
              </a:rPr>
              <a:t> __</a:t>
            </a:r>
            <a:r>
              <a:rPr lang="pt-BR" b="0" i="0" dirty="0" err="1">
                <a:solidFill>
                  <a:srgbClr val="253A44"/>
                </a:solidFill>
                <a:effectLst/>
                <a:latin typeface="Source Serif Pro" panose="02040603050405020204" pitchFamily="18" charset="0"/>
              </a:rPr>
              <a:t>name</a:t>
            </a:r>
            <a:r>
              <a:rPr lang="pt-BR" b="0" i="0" dirty="0">
                <a:solidFill>
                  <a:srgbClr val="253A44"/>
                </a:solidFill>
                <a:effectLst/>
                <a:latin typeface="Source Serif Pro" panose="02040603050405020204" pitchFamily="18" charset="0"/>
              </a:rPr>
              <a:t>__ == "__</a:t>
            </a:r>
            <a:r>
              <a:rPr lang="pt-BR" b="0" i="0" dirty="0" err="1">
                <a:solidFill>
                  <a:srgbClr val="253A44"/>
                </a:solidFill>
                <a:effectLst/>
                <a:latin typeface="Source Serif Pro" panose="02040603050405020204" pitchFamily="18" charset="0"/>
              </a:rPr>
              <a:t>main</a:t>
            </a:r>
            <a:r>
              <a:rPr lang="pt-BR" b="0" i="0" dirty="0">
                <a:solidFill>
                  <a:srgbClr val="253A44"/>
                </a:solidFill>
                <a:effectLst/>
                <a:latin typeface="Source Serif Pro" panose="02040603050405020204" pitchFamily="18" charset="0"/>
              </a:rPr>
              <a:t>__": do módulo para executar os testes criados, como ilustrado abaixo:</a:t>
            </a:r>
            <a:endParaRPr lang="pt-BR" dirty="0"/>
          </a:p>
        </p:txBody>
      </p:sp>
      <p:pic>
        <p:nvPicPr>
          <p:cNvPr id="8" name="Imagem 7">
            <a:extLst>
              <a:ext uri="{FF2B5EF4-FFF2-40B4-BE49-F238E27FC236}">
                <a16:creationId xmlns:a16="http://schemas.microsoft.com/office/drawing/2014/main" id="{0A902527-5214-3DE5-4BF6-85EF9C36335D}"/>
              </a:ext>
            </a:extLst>
          </p:cNvPr>
          <p:cNvPicPr>
            <a:picLocks noChangeAspect="1"/>
          </p:cNvPicPr>
          <p:nvPr/>
        </p:nvPicPr>
        <p:blipFill>
          <a:blip r:embed="rId3"/>
          <a:stretch>
            <a:fillRect/>
          </a:stretch>
        </p:blipFill>
        <p:spPr>
          <a:xfrm>
            <a:off x="1606797" y="2255006"/>
            <a:ext cx="6981477" cy="1923468"/>
          </a:xfrm>
          <a:prstGeom prst="rect">
            <a:avLst/>
          </a:prstGeom>
        </p:spPr>
      </p:pic>
      <p:sp>
        <p:nvSpPr>
          <p:cNvPr id="10" name="CaixaDeTexto 9">
            <a:extLst>
              <a:ext uri="{FF2B5EF4-FFF2-40B4-BE49-F238E27FC236}">
                <a16:creationId xmlns:a16="http://schemas.microsoft.com/office/drawing/2014/main" id="{E8150444-737F-F2CE-A6F2-F1C541EF5DA0}"/>
              </a:ext>
            </a:extLst>
          </p:cNvPr>
          <p:cNvSpPr txBox="1"/>
          <p:nvPr/>
        </p:nvSpPr>
        <p:spPr>
          <a:xfrm>
            <a:off x="1553402" y="4272351"/>
            <a:ext cx="7291183" cy="738664"/>
          </a:xfrm>
          <a:prstGeom prst="rect">
            <a:avLst/>
          </a:prstGeom>
          <a:noFill/>
        </p:spPr>
        <p:txBody>
          <a:bodyPr wrap="square">
            <a:spAutoFit/>
          </a:bodyPr>
          <a:lstStyle/>
          <a:p>
            <a:r>
              <a:rPr lang="pt-BR" b="0" i="0" dirty="0">
                <a:solidFill>
                  <a:srgbClr val="253A44"/>
                </a:solidFill>
                <a:effectLst/>
                <a:latin typeface="Source Serif Pro" panose="02040603050405020204" pitchFamily="18" charset="0"/>
              </a:rPr>
              <a:t>Os métodos </a:t>
            </a:r>
            <a:r>
              <a:rPr lang="pt-BR" b="0" i="0" dirty="0" err="1">
                <a:solidFill>
                  <a:srgbClr val="253A44"/>
                </a:solidFill>
                <a:effectLst/>
                <a:latin typeface="Source Serif Pro" panose="02040603050405020204" pitchFamily="18" charset="0"/>
              </a:rPr>
              <a:t>assert</a:t>
            </a:r>
            <a:r>
              <a:rPr lang="pt-BR" b="0" i="0" dirty="0">
                <a:solidFill>
                  <a:srgbClr val="253A44"/>
                </a:solidFill>
                <a:effectLst/>
                <a:latin typeface="Source Serif Pro" panose="02040603050405020204" pitchFamily="18" charset="0"/>
              </a:rPr>
              <a:t> (do inglês afirmar) são responsáveis por verificar se o resultado gerado durante o teste é igual ao esperado, caso contrário o teste resultará em uma falha e exibirá a mensagem, caso definida.</a:t>
            </a:r>
            <a:endParaRPr lang="pt-BR" dirty="0"/>
          </a:p>
        </p:txBody>
      </p:sp>
    </p:spTree>
    <p:extLst>
      <p:ext uri="{BB962C8B-B14F-4D97-AF65-F5344CB8AC3E}">
        <p14:creationId xmlns:p14="http://schemas.microsoft.com/office/powerpoint/2010/main" val="34416789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132485"/>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Testes Unitários - </a:t>
            </a:r>
            <a:r>
              <a:rPr lang="pt-BR" sz="2400" b="1" i="0" u="none" strike="noStrike" cap="none" dirty="0" err="1">
                <a:solidFill>
                  <a:schemeClr val="dk1"/>
                </a:solidFill>
                <a:latin typeface="Times New Roman"/>
                <a:ea typeface="Times New Roman"/>
                <a:cs typeface="Times New Roman"/>
                <a:sym typeface="Times New Roman"/>
              </a:rPr>
              <a:t>PyUnit</a:t>
            </a:r>
            <a:endParaRPr sz="2400" b="0" i="0" u="none" strike="noStrike" cap="none" dirty="0">
              <a:solidFill>
                <a:schemeClr val="dk1"/>
              </a:solidFill>
              <a:latin typeface="Times New Roman"/>
              <a:ea typeface="Times New Roman"/>
              <a:cs typeface="Times New Roman"/>
              <a:sym typeface="Times New Roman"/>
            </a:endParaRPr>
          </a:p>
        </p:txBody>
      </p:sp>
      <p:sp>
        <p:nvSpPr>
          <p:cNvPr id="6" name="CaixaDeTexto 5">
            <a:extLst>
              <a:ext uri="{FF2B5EF4-FFF2-40B4-BE49-F238E27FC236}">
                <a16:creationId xmlns:a16="http://schemas.microsoft.com/office/drawing/2014/main" id="{BF0D41C7-C82B-B94A-008D-BD22C7D2E9F7}"/>
              </a:ext>
            </a:extLst>
          </p:cNvPr>
          <p:cNvSpPr txBox="1"/>
          <p:nvPr/>
        </p:nvSpPr>
        <p:spPr>
          <a:xfrm>
            <a:off x="1669926" y="978907"/>
            <a:ext cx="6472906" cy="523220"/>
          </a:xfrm>
          <a:prstGeom prst="rect">
            <a:avLst/>
          </a:prstGeom>
          <a:noFill/>
        </p:spPr>
        <p:txBody>
          <a:bodyPr wrap="square">
            <a:spAutoFit/>
          </a:bodyPr>
          <a:lstStyle/>
          <a:p>
            <a:r>
              <a:rPr lang="pt-BR" b="0" i="0" dirty="0">
                <a:solidFill>
                  <a:srgbClr val="253A44"/>
                </a:solidFill>
                <a:effectLst/>
                <a:latin typeface="Source Serif Pro" panose="02040603050405020204" pitchFamily="18" charset="0"/>
              </a:rPr>
              <a:t>Por exemplo, considere que queremos testar isoladamente o seguinte método </a:t>
            </a:r>
            <a:r>
              <a:rPr lang="pt-BR" b="0" i="0" dirty="0" err="1">
                <a:solidFill>
                  <a:srgbClr val="253A44"/>
                </a:solidFill>
                <a:effectLst/>
                <a:latin typeface="Source Serif Pro" panose="02040603050405020204" pitchFamily="18" charset="0"/>
              </a:rPr>
              <a:t>frete_gratis</a:t>
            </a:r>
            <a:r>
              <a:rPr lang="pt-BR" b="0" i="0" dirty="0">
                <a:solidFill>
                  <a:srgbClr val="253A44"/>
                </a:solidFill>
                <a:effectLst/>
                <a:latin typeface="Source Serif Pro" panose="02040603050405020204" pitchFamily="18" charset="0"/>
              </a:rPr>
              <a:t> da classe Compra:</a:t>
            </a:r>
            <a:endParaRPr lang="pt-BR" dirty="0"/>
          </a:p>
        </p:txBody>
      </p:sp>
      <p:pic>
        <p:nvPicPr>
          <p:cNvPr id="11" name="Imagem 10">
            <a:extLst>
              <a:ext uri="{FF2B5EF4-FFF2-40B4-BE49-F238E27FC236}">
                <a16:creationId xmlns:a16="http://schemas.microsoft.com/office/drawing/2014/main" id="{B0E88EBE-8BB0-7218-AB79-20E605114629}"/>
              </a:ext>
            </a:extLst>
          </p:cNvPr>
          <p:cNvPicPr>
            <a:picLocks noChangeAspect="1"/>
          </p:cNvPicPr>
          <p:nvPr/>
        </p:nvPicPr>
        <p:blipFill>
          <a:blip r:embed="rId3"/>
          <a:stretch>
            <a:fillRect/>
          </a:stretch>
        </p:blipFill>
        <p:spPr>
          <a:xfrm>
            <a:off x="2935438" y="1572529"/>
            <a:ext cx="3273123" cy="764748"/>
          </a:xfrm>
          <a:prstGeom prst="rect">
            <a:avLst/>
          </a:prstGeom>
        </p:spPr>
      </p:pic>
      <p:sp>
        <p:nvSpPr>
          <p:cNvPr id="13" name="CaixaDeTexto 12">
            <a:extLst>
              <a:ext uri="{FF2B5EF4-FFF2-40B4-BE49-F238E27FC236}">
                <a16:creationId xmlns:a16="http://schemas.microsoft.com/office/drawing/2014/main" id="{7FB2AABD-F27D-39BE-7CD8-25BE31FA0A2A}"/>
              </a:ext>
            </a:extLst>
          </p:cNvPr>
          <p:cNvSpPr txBox="1"/>
          <p:nvPr/>
        </p:nvSpPr>
        <p:spPr>
          <a:xfrm>
            <a:off x="1669926" y="2401370"/>
            <a:ext cx="6519627" cy="523220"/>
          </a:xfrm>
          <a:prstGeom prst="rect">
            <a:avLst/>
          </a:prstGeom>
          <a:noFill/>
        </p:spPr>
        <p:txBody>
          <a:bodyPr wrap="square">
            <a:spAutoFit/>
          </a:bodyPr>
          <a:lstStyle/>
          <a:p>
            <a:r>
              <a:rPr lang="pt-BR" b="0" i="0" dirty="0">
                <a:solidFill>
                  <a:srgbClr val="253A44"/>
                </a:solidFill>
                <a:effectLst/>
                <a:latin typeface="Source Serif Pro" panose="02040603050405020204" pitchFamily="18" charset="0"/>
              </a:rPr>
              <a:t>Criamos então a classe </a:t>
            </a:r>
            <a:r>
              <a:rPr lang="pt-BR" b="0" i="0" dirty="0" err="1">
                <a:solidFill>
                  <a:srgbClr val="253A44"/>
                </a:solidFill>
                <a:effectLst/>
                <a:latin typeface="Source Serif Pro" panose="02040603050405020204" pitchFamily="18" charset="0"/>
              </a:rPr>
              <a:t>CompraTest</a:t>
            </a:r>
            <a:r>
              <a:rPr lang="pt-BR" b="0" i="0" dirty="0">
                <a:solidFill>
                  <a:srgbClr val="253A44"/>
                </a:solidFill>
                <a:effectLst/>
                <a:latin typeface="Source Serif Pro" panose="02040603050405020204" pitchFamily="18" charset="0"/>
              </a:rPr>
              <a:t> dentro da pasta </a:t>
            </a:r>
            <a:r>
              <a:rPr lang="pt-BR" b="0" i="0" dirty="0" err="1">
                <a:solidFill>
                  <a:srgbClr val="253A44"/>
                </a:solidFill>
                <a:effectLst/>
                <a:latin typeface="Source Serif Pro" panose="02040603050405020204" pitchFamily="18" charset="0"/>
              </a:rPr>
              <a:t>tests</a:t>
            </a:r>
            <a:r>
              <a:rPr lang="pt-BR" b="0" i="0" dirty="0">
                <a:solidFill>
                  <a:srgbClr val="253A44"/>
                </a:solidFill>
                <a:effectLst/>
                <a:latin typeface="Source Serif Pro" panose="02040603050405020204" pitchFamily="18" charset="0"/>
              </a:rPr>
              <a:t>, como o método </a:t>
            </a:r>
            <a:r>
              <a:rPr lang="pt-BR" b="0" i="0" dirty="0" err="1">
                <a:solidFill>
                  <a:srgbClr val="253A44"/>
                </a:solidFill>
                <a:effectLst/>
                <a:latin typeface="Source Serif Pro" panose="02040603050405020204" pitchFamily="18" charset="0"/>
              </a:rPr>
              <a:t>test_frete_gratis</a:t>
            </a:r>
            <a:r>
              <a:rPr lang="pt-BR" b="0" i="0" dirty="0">
                <a:solidFill>
                  <a:srgbClr val="253A44"/>
                </a:solidFill>
                <a:effectLst/>
                <a:latin typeface="Source Serif Pro" panose="02040603050405020204" pitchFamily="18" charset="0"/>
              </a:rPr>
              <a:t>, de acordo com o código abaixo.</a:t>
            </a:r>
            <a:endParaRPr lang="pt-BR" dirty="0"/>
          </a:p>
        </p:txBody>
      </p:sp>
      <p:pic>
        <p:nvPicPr>
          <p:cNvPr id="15" name="Imagem 14">
            <a:extLst>
              <a:ext uri="{FF2B5EF4-FFF2-40B4-BE49-F238E27FC236}">
                <a16:creationId xmlns:a16="http://schemas.microsoft.com/office/drawing/2014/main" id="{012DCD72-7E78-24CA-A835-D7FAEA162FF3}"/>
              </a:ext>
            </a:extLst>
          </p:cNvPr>
          <p:cNvPicPr>
            <a:picLocks noChangeAspect="1"/>
          </p:cNvPicPr>
          <p:nvPr/>
        </p:nvPicPr>
        <p:blipFill>
          <a:blip r:embed="rId4"/>
          <a:stretch>
            <a:fillRect/>
          </a:stretch>
        </p:blipFill>
        <p:spPr>
          <a:xfrm>
            <a:off x="2426380" y="2924590"/>
            <a:ext cx="4959998" cy="2154817"/>
          </a:xfrm>
          <a:prstGeom prst="rect">
            <a:avLst/>
          </a:prstGeom>
        </p:spPr>
      </p:pic>
    </p:spTree>
    <p:extLst>
      <p:ext uri="{BB962C8B-B14F-4D97-AF65-F5344CB8AC3E}">
        <p14:creationId xmlns:p14="http://schemas.microsoft.com/office/powerpoint/2010/main" val="6674516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132485"/>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Testes Unitários - </a:t>
            </a:r>
            <a:r>
              <a:rPr lang="pt-BR" sz="2400" b="1" i="0" u="none" strike="noStrike" cap="none" dirty="0" err="1">
                <a:solidFill>
                  <a:schemeClr val="dk1"/>
                </a:solidFill>
                <a:latin typeface="Times New Roman"/>
                <a:ea typeface="Times New Roman"/>
                <a:cs typeface="Times New Roman"/>
                <a:sym typeface="Times New Roman"/>
              </a:rPr>
              <a:t>PyUnit</a:t>
            </a:r>
            <a:endParaRPr sz="2400" b="0" i="0" u="none" strike="noStrike" cap="none" dirty="0">
              <a:solidFill>
                <a:schemeClr val="dk1"/>
              </a:solidFill>
              <a:latin typeface="Times New Roman"/>
              <a:ea typeface="Times New Roman"/>
              <a:cs typeface="Times New Roman"/>
              <a:sym typeface="Times New Roman"/>
            </a:endParaRPr>
          </a:p>
        </p:txBody>
      </p:sp>
      <p:graphicFrame>
        <p:nvGraphicFramePr>
          <p:cNvPr id="3" name="Tabela 2">
            <a:extLst>
              <a:ext uri="{FF2B5EF4-FFF2-40B4-BE49-F238E27FC236}">
                <a16:creationId xmlns:a16="http://schemas.microsoft.com/office/drawing/2014/main" id="{8A17335E-2413-D0D0-41E3-A7D913E2C89A}"/>
              </a:ext>
            </a:extLst>
          </p:cNvPr>
          <p:cNvGraphicFramePr>
            <a:graphicFrameLocks noGrp="1"/>
          </p:cNvGraphicFramePr>
          <p:nvPr>
            <p:extLst>
              <p:ext uri="{D42A27DB-BD31-4B8C-83A1-F6EECF244321}">
                <p14:modId xmlns:p14="http://schemas.microsoft.com/office/powerpoint/2010/main" val="1391941052"/>
              </p:ext>
            </p:extLst>
          </p:nvPr>
        </p:nvGraphicFramePr>
        <p:xfrm>
          <a:off x="1527359" y="1738287"/>
          <a:ext cx="7046912" cy="1524000"/>
        </p:xfrm>
        <a:graphic>
          <a:graphicData uri="http://schemas.openxmlformats.org/drawingml/2006/table">
            <a:tbl>
              <a:tblPr/>
              <a:tblGrid>
                <a:gridCol w="3523456">
                  <a:extLst>
                    <a:ext uri="{9D8B030D-6E8A-4147-A177-3AD203B41FA5}">
                      <a16:colId xmlns:a16="http://schemas.microsoft.com/office/drawing/2014/main" val="1484198135"/>
                    </a:ext>
                  </a:extLst>
                </a:gridCol>
                <a:gridCol w="3523456">
                  <a:extLst>
                    <a:ext uri="{9D8B030D-6E8A-4147-A177-3AD203B41FA5}">
                      <a16:colId xmlns:a16="http://schemas.microsoft.com/office/drawing/2014/main" val="2638528589"/>
                    </a:ext>
                  </a:extLst>
                </a:gridCol>
              </a:tblGrid>
              <a:tr h="0">
                <a:tc>
                  <a:txBody>
                    <a:bodyPr/>
                    <a:lstStyle/>
                    <a:p>
                      <a:pPr fontAlgn="base"/>
                      <a:r>
                        <a:rPr lang="en-US">
                          <a:effectLst/>
                          <a:latin typeface="inherit"/>
                        </a:rPr>
                        <a:t>assertEqual(expected_value,actual_value)</a:t>
                      </a:r>
                    </a:p>
                  </a:txBody>
                  <a:tcPr marL="114300" marR="114300" marT="57150" marB="57150">
                    <a:lnL>
                      <a:noFill/>
                    </a:lnL>
                    <a:lnR>
                      <a:noFill/>
                    </a:lnR>
                    <a:lnT>
                      <a:noFill/>
                    </a:lnT>
                    <a:lnB>
                      <a:noFill/>
                    </a:lnB>
                  </a:tcPr>
                </a:tc>
                <a:tc>
                  <a:txBody>
                    <a:bodyPr/>
                    <a:lstStyle/>
                    <a:p>
                      <a:pPr fontAlgn="base"/>
                      <a:r>
                        <a:rPr lang="en-US">
                          <a:effectLst/>
                          <a:latin typeface="inherit"/>
                        </a:rPr>
                        <a:t>Asserts that expected_value == actual_value</a:t>
                      </a:r>
                    </a:p>
                  </a:txBody>
                  <a:tcPr marL="114300" marR="114300" marT="57150" marB="57150">
                    <a:lnL>
                      <a:noFill/>
                    </a:lnL>
                    <a:lnR>
                      <a:noFill/>
                    </a:lnR>
                    <a:lnT>
                      <a:noFill/>
                    </a:lnT>
                    <a:lnB>
                      <a:noFill/>
                    </a:lnB>
                  </a:tcPr>
                </a:tc>
                <a:extLst>
                  <a:ext uri="{0D108BD9-81ED-4DB2-BD59-A6C34878D82A}">
                    <a16:rowId xmlns:a16="http://schemas.microsoft.com/office/drawing/2014/main" val="693483558"/>
                  </a:ext>
                </a:extLst>
              </a:tr>
              <a:tr h="0">
                <a:tc>
                  <a:txBody>
                    <a:bodyPr/>
                    <a:lstStyle/>
                    <a:p>
                      <a:pPr fontAlgn="base"/>
                      <a:r>
                        <a:rPr lang="pt-BR">
                          <a:effectLst/>
                          <a:latin typeface="inherit"/>
                        </a:rPr>
                        <a:t>assertTrue(result)</a:t>
                      </a:r>
                    </a:p>
                  </a:txBody>
                  <a:tcPr marL="114300" marR="114300" marT="57150" marB="57150">
                    <a:lnL>
                      <a:noFill/>
                    </a:lnL>
                    <a:lnR>
                      <a:noFill/>
                    </a:lnR>
                    <a:lnT>
                      <a:noFill/>
                    </a:lnT>
                    <a:lnB>
                      <a:noFill/>
                    </a:lnB>
                  </a:tcPr>
                </a:tc>
                <a:tc>
                  <a:txBody>
                    <a:bodyPr/>
                    <a:lstStyle/>
                    <a:p>
                      <a:pPr fontAlgn="base"/>
                      <a:r>
                        <a:rPr lang="en-US">
                          <a:effectLst/>
                          <a:latin typeface="inherit"/>
                        </a:rPr>
                        <a:t>Asserts that bool(result) is True</a:t>
                      </a:r>
                    </a:p>
                  </a:txBody>
                  <a:tcPr marL="114300" marR="114300" marT="57150" marB="57150">
                    <a:lnL>
                      <a:noFill/>
                    </a:lnL>
                    <a:lnR>
                      <a:noFill/>
                    </a:lnR>
                    <a:lnT>
                      <a:noFill/>
                    </a:lnT>
                    <a:lnB>
                      <a:noFill/>
                    </a:lnB>
                  </a:tcPr>
                </a:tc>
                <a:extLst>
                  <a:ext uri="{0D108BD9-81ED-4DB2-BD59-A6C34878D82A}">
                    <a16:rowId xmlns:a16="http://schemas.microsoft.com/office/drawing/2014/main" val="303734707"/>
                  </a:ext>
                </a:extLst>
              </a:tr>
              <a:tr h="0">
                <a:tc>
                  <a:txBody>
                    <a:bodyPr/>
                    <a:lstStyle/>
                    <a:p>
                      <a:pPr fontAlgn="base"/>
                      <a:r>
                        <a:rPr lang="pt-BR">
                          <a:effectLst/>
                          <a:latin typeface="inherit"/>
                        </a:rPr>
                        <a:t>assertFalse(result)</a:t>
                      </a:r>
                    </a:p>
                  </a:txBody>
                  <a:tcPr marL="114300" marR="114300" marT="57150" marB="57150">
                    <a:lnL>
                      <a:noFill/>
                    </a:lnL>
                    <a:lnR>
                      <a:noFill/>
                    </a:lnR>
                    <a:lnT>
                      <a:noFill/>
                    </a:lnT>
                    <a:lnB>
                      <a:noFill/>
                    </a:lnB>
                  </a:tcPr>
                </a:tc>
                <a:tc>
                  <a:txBody>
                    <a:bodyPr/>
                    <a:lstStyle/>
                    <a:p>
                      <a:pPr fontAlgn="base"/>
                      <a:r>
                        <a:rPr lang="en-US">
                          <a:effectLst/>
                          <a:latin typeface="inherit"/>
                        </a:rPr>
                        <a:t>Asserts that bool(result) is False</a:t>
                      </a:r>
                    </a:p>
                  </a:txBody>
                  <a:tcPr marL="114300" marR="114300" marT="57150" marB="57150">
                    <a:lnL>
                      <a:noFill/>
                    </a:lnL>
                    <a:lnR>
                      <a:noFill/>
                    </a:lnR>
                    <a:lnT>
                      <a:noFill/>
                    </a:lnT>
                    <a:lnB>
                      <a:noFill/>
                    </a:lnB>
                  </a:tcPr>
                </a:tc>
                <a:extLst>
                  <a:ext uri="{0D108BD9-81ED-4DB2-BD59-A6C34878D82A}">
                    <a16:rowId xmlns:a16="http://schemas.microsoft.com/office/drawing/2014/main" val="180992846"/>
                  </a:ext>
                </a:extLst>
              </a:tr>
              <a:tr h="0">
                <a:tc>
                  <a:txBody>
                    <a:bodyPr/>
                    <a:lstStyle/>
                    <a:p>
                      <a:pPr fontAlgn="base"/>
                      <a:r>
                        <a:rPr lang="pt-BR">
                          <a:effectLst/>
                          <a:latin typeface="inherit"/>
                        </a:rPr>
                        <a:t>assertRaises(exception, function, *args, **kwargs)</a:t>
                      </a:r>
                    </a:p>
                  </a:txBody>
                  <a:tcPr marL="114300" marR="114300" marT="57150" marB="57150">
                    <a:lnL>
                      <a:noFill/>
                    </a:lnL>
                    <a:lnR>
                      <a:noFill/>
                    </a:lnR>
                    <a:lnT>
                      <a:noFill/>
                    </a:lnT>
                    <a:lnB>
                      <a:noFill/>
                    </a:lnB>
                  </a:tcPr>
                </a:tc>
                <a:tc>
                  <a:txBody>
                    <a:bodyPr/>
                    <a:lstStyle/>
                    <a:p>
                      <a:pPr fontAlgn="base"/>
                      <a:r>
                        <a:rPr lang="en-US" dirty="0">
                          <a:effectLst/>
                          <a:latin typeface="inherit"/>
                        </a:rPr>
                        <a:t>Asserts that function(*</a:t>
                      </a:r>
                      <a:r>
                        <a:rPr lang="en-US" dirty="0" err="1">
                          <a:effectLst/>
                          <a:latin typeface="inherit"/>
                        </a:rPr>
                        <a:t>args</a:t>
                      </a:r>
                      <a:r>
                        <a:rPr lang="en-US" dirty="0">
                          <a:effectLst/>
                          <a:latin typeface="inherit"/>
                        </a:rPr>
                        <a:t>, **</a:t>
                      </a:r>
                      <a:r>
                        <a:rPr lang="en-US" dirty="0" err="1">
                          <a:effectLst/>
                          <a:latin typeface="inherit"/>
                        </a:rPr>
                        <a:t>kwargs</a:t>
                      </a:r>
                      <a:r>
                        <a:rPr lang="en-US" dirty="0">
                          <a:effectLst/>
                          <a:latin typeface="inherit"/>
                        </a:rPr>
                        <a:t>) raises the exception</a:t>
                      </a:r>
                    </a:p>
                  </a:txBody>
                  <a:tcPr marL="114300" marR="114300" marT="57150" marB="57150">
                    <a:lnL>
                      <a:noFill/>
                    </a:lnL>
                    <a:lnR>
                      <a:noFill/>
                    </a:lnR>
                    <a:lnT>
                      <a:noFill/>
                    </a:lnT>
                    <a:lnB>
                      <a:noFill/>
                    </a:lnB>
                  </a:tcPr>
                </a:tc>
                <a:extLst>
                  <a:ext uri="{0D108BD9-81ED-4DB2-BD59-A6C34878D82A}">
                    <a16:rowId xmlns:a16="http://schemas.microsoft.com/office/drawing/2014/main" val="502278199"/>
                  </a:ext>
                </a:extLst>
              </a:tr>
            </a:tbl>
          </a:graphicData>
        </a:graphic>
      </p:graphicFrame>
    </p:spTree>
    <p:extLst>
      <p:ext uri="{BB962C8B-B14F-4D97-AF65-F5344CB8AC3E}">
        <p14:creationId xmlns:p14="http://schemas.microsoft.com/office/powerpoint/2010/main" val="6620949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132485"/>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Testes Unitários - </a:t>
            </a:r>
            <a:r>
              <a:rPr lang="pt-BR" sz="2400" b="1" i="0" u="none" strike="noStrike" cap="none" dirty="0" err="1">
                <a:solidFill>
                  <a:schemeClr val="dk1"/>
                </a:solidFill>
                <a:latin typeface="Times New Roman"/>
                <a:ea typeface="Times New Roman"/>
                <a:cs typeface="Times New Roman"/>
                <a:sym typeface="Times New Roman"/>
              </a:rPr>
              <a:t>PyUnit</a:t>
            </a:r>
            <a:endParaRPr sz="2400" b="0" i="0" u="none" strike="noStrike" cap="none" dirty="0">
              <a:solidFill>
                <a:schemeClr val="dk1"/>
              </a:solidFill>
              <a:latin typeface="Times New Roman"/>
              <a:ea typeface="Times New Roman"/>
              <a:cs typeface="Times New Roman"/>
              <a:sym typeface="Times New Roman"/>
            </a:endParaRPr>
          </a:p>
        </p:txBody>
      </p:sp>
      <p:pic>
        <p:nvPicPr>
          <p:cNvPr id="5" name="Imagem 4">
            <a:extLst>
              <a:ext uri="{FF2B5EF4-FFF2-40B4-BE49-F238E27FC236}">
                <a16:creationId xmlns:a16="http://schemas.microsoft.com/office/drawing/2014/main" id="{D7EE511A-2C71-8A7D-A0CE-CCE4739AE2A6}"/>
              </a:ext>
            </a:extLst>
          </p:cNvPr>
          <p:cNvPicPr>
            <a:picLocks noChangeAspect="1"/>
          </p:cNvPicPr>
          <p:nvPr/>
        </p:nvPicPr>
        <p:blipFill>
          <a:blip r:embed="rId3"/>
          <a:stretch>
            <a:fillRect/>
          </a:stretch>
        </p:blipFill>
        <p:spPr>
          <a:xfrm>
            <a:off x="2790825" y="785951"/>
            <a:ext cx="3562350" cy="2009775"/>
          </a:xfrm>
          <a:prstGeom prst="rect">
            <a:avLst/>
          </a:prstGeom>
        </p:spPr>
      </p:pic>
      <p:pic>
        <p:nvPicPr>
          <p:cNvPr id="7" name="Imagem 6">
            <a:extLst>
              <a:ext uri="{FF2B5EF4-FFF2-40B4-BE49-F238E27FC236}">
                <a16:creationId xmlns:a16="http://schemas.microsoft.com/office/drawing/2014/main" id="{0E940B31-9DF8-C31C-722B-4CD7828170BE}"/>
              </a:ext>
            </a:extLst>
          </p:cNvPr>
          <p:cNvPicPr>
            <a:picLocks noChangeAspect="1"/>
          </p:cNvPicPr>
          <p:nvPr/>
        </p:nvPicPr>
        <p:blipFill>
          <a:blip r:embed="rId4"/>
          <a:stretch>
            <a:fillRect/>
          </a:stretch>
        </p:blipFill>
        <p:spPr>
          <a:xfrm>
            <a:off x="2790825" y="2795726"/>
            <a:ext cx="3412054" cy="2215289"/>
          </a:xfrm>
          <a:prstGeom prst="rect">
            <a:avLst/>
          </a:prstGeom>
        </p:spPr>
      </p:pic>
    </p:spTree>
    <p:extLst>
      <p:ext uri="{BB962C8B-B14F-4D97-AF65-F5344CB8AC3E}">
        <p14:creationId xmlns:p14="http://schemas.microsoft.com/office/powerpoint/2010/main" val="23432668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132485"/>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Testes Unitários - </a:t>
            </a:r>
            <a:r>
              <a:rPr lang="pt-BR" sz="2400" b="1" i="0" u="none" strike="noStrike" cap="none" dirty="0" err="1">
                <a:solidFill>
                  <a:schemeClr val="dk1"/>
                </a:solidFill>
                <a:latin typeface="Times New Roman"/>
                <a:ea typeface="Times New Roman"/>
                <a:cs typeface="Times New Roman"/>
                <a:sym typeface="Times New Roman"/>
              </a:rPr>
              <a:t>PyUnit</a:t>
            </a:r>
            <a:endParaRPr sz="2400" b="0" i="0" u="none" strike="noStrike" cap="none" dirty="0">
              <a:solidFill>
                <a:schemeClr val="dk1"/>
              </a:solidFill>
              <a:latin typeface="Times New Roman"/>
              <a:ea typeface="Times New Roman"/>
              <a:cs typeface="Times New Roman"/>
              <a:sym typeface="Times New Roman"/>
            </a:endParaRPr>
          </a:p>
        </p:txBody>
      </p:sp>
      <p:pic>
        <p:nvPicPr>
          <p:cNvPr id="4" name="Imagem 3">
            <a:extLst>
              <a:ext uri="{FF2B5EF4-FFF2-40B4-BE49-F238E27FC236}">
                <a16:creationId xmlns:a16="http://schemas.microsoft.com/office/drawing/2014/main" id="{D32BB4F5-FBEE-25B2-E71A-833EE8000F69}"/>
              </a:ext>
            </a:extLst>
          </p:cNvPr>
          <p:cNvPicPr>
            <a:picLocks noChangeAspect="1"/>
          </p:cNvPicPr>
          <p:nvPr/>
        </p:nvPicPr>
        <p:blipFill>
          <a:blip r:embed="rId3"/>
          <a:stretch>
            <a:fillRect/>
          </a:stretch>
        </p:blipFill>
        <p:spPr>
          <a:xfrm>
            <a:off x="2761485" y="679786"/>
            <a:ext cx="3981450" cy="3209925"/>
          </a:xfrm>
          <a:prstGeom prst="rect">
            <a:avLst/>
          </a:prstGeom>
        </p:spPr>
      </p:pic>
      <p:pic>
        <p:nvPicPr>
          <p:cNvPr id="8" name="Imagem 7">
            <a:extLst>
              <a:ext uri="{FF2B5EF4-FFF2-40B4-BE49-F238E27FC236}">
                <a16:creationId xmlns:a16="http://schemas.microsoft.com/office/drawing/2014/main" id="{303E208A-3749-7563-C31E-D052F3EC96A4}"/>
              </a:ext>
            </a:extLst>
          </p:cNvPr>
          <p:cNvPicPr>
            <a:picLocks noChangeAspect="1"/>
          </p:cNvPicPr>
          <p:nvPr/>
        </p:nvPicPr>
        <p:blipFill>
          <a:blip r:embed="rId4"/>
          <a:stretch>
            <a:fillRect/>
          </a:stretch>
        </p:blipFill>
        <p:spPr>
          <a:xfrm>
            <a:off x="1669926" y="3975347"/>
            <a:ext cx="2514600" cy="628650"/>
          </a:xfrm>
          <a:prstGeom prst="rect">
            <a:avLst/>
          </a:prstGeom>
        </p:spPr>
      </p:pic>
      <p:pic>
        <p:nvPicPr>
          <p:cNvPr id="10" name="Imagem 9">
            <a:extLst>
              <a:ext uri="{FF2B5EF4-FFF2-40B4-BE49-F238E27FC236}">
                <a16:creationId xmlns:a16="http://schemas.microsoft.com/office/drawing/2014/main" id="{B56B0C31-B3F0-D093-07D8-165930ABC759}"/>
              </a:ext>
            </a:extLst>
          </p:cNvPr>
          <p:cNvPicPr>
            <a:picLocks noChangeAspect="1"/>
          </p:cNvPicPr>
          <p:nvPr/>
        </p:nvPicPr>
        <p:blipFill>
          <a:blip r:embed="rId5"/>
          <a:stretch>
            <a:fillRect/>
          </a:stretch>
        </p:blipFill>
        <p:spPr>
          <a:xfrm>
            <a:off x="5050815" y="3936452"/>
            <a:ext cx="2260058" cy="1186530"/>
          </a:xfrm>
          <a:prstGeom prst="rect">
            <a:avLst/>
          </a:prstGeom>
        </p:spPr>
      </p:pic>
    </p:spTree>
    <p:extLst>
      <p:ext uri="{BB962C8B-B14F-4D97-AF65-F5344CB8AC3E}">
        <p14:creationId xmlns:p14="http://schemas.microsoft.com/office/powerpoint/2010/main" val="3799039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132485"/>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Testes Unitários - </a:t>
            </a:r>
            <a:r>
              <a:rPr lang="pt-BR" sz="2400" b="1" i="0" u="none" strike="noStrike" cap="none" dirty="0" err="1">
                <a:solidFill>
                  <a:schemeClr val="dk1"/>
                </a:solidFill>
                <a:latin typeface="Times New Roman"/>
                <a:ea typeface="Times New Roman"/>
                <a:cs typeface="Times New Roman"/>
                <a:sym typeface="Times New Roman"/>
              </a:rPr>
              <a:t>PyUnit</a:t>
            </a:r>
            <a:endParaRPr sz="2400" b="0" i="0" u="none" strike="noStrike" cap="none" dirty="0">
              <a:solidFill>
                <a:schemeClr val="dk1"/>
              </a:solidFill>
              <a:latin typeface="Times New Roman"/>
              <a:ea typeface="Times New Roman"/>
              <a:cs typeface="Times New Roman"/>
              <a:sym typeface="Times New Roman"/>
            </a:endParaRPr>
          </a:p>
        </p:txBody>
      </p:sp>
      <p:pic>
        <p:nvPicPr>
          <p:cNvPr id="5" name="Imagem 4">
            <a:extLst>
              <a:ext uri="{FF2B5EF4-FFF2-40B4-BE49-F238E27FC236}">
                <a16:creationId xmlns:a16="http://schemas.microsoft.com/office/drawing/2014/main" id="{40024A56-FBAB-E1DE-52BB-74F87321257E}"/>
              </a:ext>
            </a:extLst>
          </p:cNvPr>
          <p:cNvPicPr>
            <a:picLocks noChangeAspect="1"/>
          </p:cNvPicPr>
          <p:nvPr/>
        </p:nvPicPr>
        <p:blipFill>
          <a:blip r:embed="rId3"/>
          <a:stretch>
            <a:fillRect/>
          </a:stretch>
        </p:blipFill>
        <p:spPr>
          <a:xfrm>
            <a:off x="2422806" y="1160729"/>
            <a:ext cx="4298388" cy="2822042"/>
          </a:xfrm>
          <a:prstGeom prst="rect">
            <a:avLst/>
          </a:prstGeom>
        </p:spPr>
      </p:pic>
    </p:spTree>
    <p:extLst>
      <p:ext uri="{BB962C8B-B14F-4D97-AF65-F5344CB8AC3E}">
        <p14:creationId xmlns:p14="http://schemas.microsoft.com/office/powerpoint/2010/main" val="32768733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 name="Google Shape;77;p4">
            <a:extLst>
              <a:ext uri="{FF2B5EF4-FFF2-40B4-BE49-F238E27FC236}">
                <a16:creationId xmlns:a16="http://schemas.microsoft.com/office/drawing/2014/main" id="{52D56352-F896-8227-D364-8BE21CC274A7}"/>
              </a:ext>
            </a:extLst>
          </p:cNvPr>
          <p:cNvSpPr txBox="1"/>
          <p:nvPr/>
        </p:nvSpPr>
        <p:spPr>
          <a:xfrm>
            <a:off x="1669926" y="132485"/>
            <a:ext cx="6761778"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00"/>
              </a:buClr>
              <a:buSzPts val="2400"/>
              <a:buFont typeface="Times New Roman"/>
              <a:buNone/>
            </a:pPr>
            <a:r>
              <a:rPr lang="pt-BR" sz="2400" b="1" i="0" u="none" strike="noStrike" cap="none" dirty="0">
                <a:solidFill>
                  <a:schemeClr val="dk1"/>
                </a:solidFill>
                <a:latin typeface="Times New Roman"/>
                <a:ea typeface="Times New Roman"/>
                <a:cs typeface="Times New Roman"/>
                <a:sym typeface="Times New Roman"/>
              </a:rPr>
              <a:t>Testes Unitários - Exercícios</a:t>
            </a:r>
            <a:endParaRPr sz="2400" b="0" i="0" u="none" strike="noStrike" cap="none" dirty="0">
              <a:solidFill>
                <a:schemeClr val="dk1"/>
              </a:solidFill>
              <a:latin typeface="Times New Roman"/>
              <a:ea typeface="Times New Roman"/>
              <a:cs typeface="Times New Roman"/>
              <a:sym typeface="Times New Roman"/>
            </a:endParaRPr>
          </a:p>
        </p:txBody>
      </p:sp>
      <p:sp>
        <p:nvSpPr>
          <p:cNvPr id="3" name="CaixaDeTexto 2">
            <a:extLst>
              <a:ext uri="{FF2B5EF4-FFF2-40B4-BE49-F238E27FC236}">
                <a16:creationId xmlns:a16="http://schemas.microsoft.com/office/drawing/2014/main" id="{E7957152-C287-8F6F-1DA1-00453CC39B93}"/>
              </a:ext>
            </a:extLst>
          </p:cNvPr>
          <p:cNvSpPr txBox="1"/>
          <p:nvPr/>
        </p:nvSpPr>
        <p:spPr>
          <a:xfrm>
            <a:off x="1669926" y="1043577"/>
            <a:ext cx="6530952" cy="2677656"/>
          </a:xfrm>
          <a:prstGeom prst="rect">
            <a:avLst/>
          </a:prstGeom>
          <a:noFill/>
        </p:spPr>
        <p:txBody>
          <a:bodyPr wrap="square">
            <a:spAutoFit/>
          </a:bodyPr>
          <a:lstStyle/>
          <a:p>
            <a:pPr marL="342900" indent="-342900" algn="l" fontAlgn="base">
              <a:buAutoNum type="arabicPeriod"/>
            </a:pPr>
            <a:r>
              <a:rPr lang="pt-BR" b="0" i="0" dirty="0">
                <a:solidFill>
                  <a:srgbClr val="253A44"/>
                </a:solidFill>
                <a:effectLst/>
                <a:latin typeface="Source Serif Pro" panose="02040603050405020204" pitchFamily="18" charset="0"/>
              </a:rPr>
              <a:t>Crie uma função que checa se um número é par. Se for par ela retorna </a:t>
            </a:r>
            <a:r>
              <a:rPr lang="pt-BR" b="0" i="0" dirty="0" err="1">
                <a:solidFill>
                  <a:srgbClr val="253A44"/>
                </a:solidFill>
                <a:effectLst/>
                <a:latin typeface="Source Serif Pro" panose="02040603050405020204" pitchFamily="18" charset="0"/>
              </a:rPr>
              <a:t>True</a:t>
            </a:r>
            <a:r>
              <a:rPr lang="pt-BR" dirty="0">
                <a:solidFill>
                  <a:srgbClr val="253A44"/>
                </a:solidFill>
                <a:latin typeface="Source Serif Pro" panose="02040603050405020204" pitchFamily="18" charset="0"/>
              </a:rPr>
              <a:t>, se não for ela retorna False. Crie 5 testes unitários para checar essa função. Após testar a primeira vez, quebre a função(mude o valor que ela retorna) e observe o resultado.</a:t>
            </a:r>
          </a:p>
          <a:p>
            <a:pPr marL="342900" indent="-342900" algn="l" fontAlgn="base">
              <a:buAutoNum type="arabicPeriod"/>
            </a:pPr>
            <a:endParaRPr lang="pt-BR" dirty="0">
              <a:solidFill>
                <a:srgbClr val="253A44"/>
              </a:solidFill>
              <a:latin typeface="Source Serif Pro" panose="02040603050405020204" pitchFamily="18" charset="0"/>
            </a:endParaRPr>
          </a:p>
          <a:p>
            <a:pPr marL="342900" indent="-342900" algn="l" fontAlgn="base">
              <a:buAutoNum type="arabicPeriod"/>
            </a:pPr>
            <a:r>
              <a:rPr lang="pt-BR" dirty="0">
                <a:solidFill>
                  <a:srgbClr val="253A44"/>
                </a:solidFill>
                <a:latin typeface="Source Serif Pro" panose="02040603050405020204" pitchFamily="18" charset="0"/>
              </a:rPr>
              <a:t>Crie uma classe Funcionário que deve conter, pelo menos, os atributos nome e idade e um método apresentar() em que é retornada uma mensagem com o nome e idade do funcionário.</a:t>
            </a:r>
            <a:br>
              <a:rPr lang="pt-BR" dirty="0">
                <a:solidFill>
                  <a:srgbClr val="253A44"/>
                </a:solidFill>
                <a:latin typeface="Source Serif Pro" panose="02040603050405020204" pitchFamily="18" charset="0"/>
              </a:rPr>
            </a:br>
            <a:r>
              <a:rPr lang="pt-BR" dirty="0" err="1">
                <a:solidFill>
                  <a:srgbClr val="253A44"/>
                </a:solidFill>
                <a:latin typeface="Source Serif Pro" panose="02040603050405020204" pitchFamily="18" charset="0"/>
              </a:rPr>
              <a:t>Ex</a:t>
            </a:r>
            <a:r>
              <a:rPr lang="pt-BR" dirty="0">
                <a:solidFill>
                  <a:srgbClr val="253A44"/>
                </a:solidFill>
                <a:latin typeface="Source Serif Pro" panose="02040603050405020204" pitchFamily="18" charset="0"/>
              </a:rPr>
              <a:t>: “Olá meu nome é Fulano, tenho X anos”</a:t>
            </a:r>
          </a:p>
          <a:p>
            <a:pPr marL="342900" indent="-342900" algn="l" fontAlgn="base">
              <a:buAutoNum type="arabicPeriod"/>
            </a:pPr>
            <a:endParaRPr lang="pt-BR" dirty="0">
              <a:solidFill>
                <a:srgbClr val="253A44"/>
              </a:solidFill>
              <a:latin typeface="Source Serif Pro" panose="02040603050405020204" pitchFamily="18" charset="0"/>
            </a:endParaRPr>
          </a:p>
          <a:p>
            <a:pPr marL="342900" indent="-342900" algn="l" fontAlgn="base">
              <a:buAutoNum type="arabicPeriod"/>
            </a:pPr>
            <a:r>
              <a:rPr lang="pt-BR" dirty="0">
                <a:solidFill>
                  <a:srgbClr val="253A44"/>
                </a:solidFill>
                <a:latin typeface="Source Serif Pro" panose="02040603050405020204" pitchFamily="18" charset="0"/>
              </a:rPr>
              <a:t>Realize um teste unitário em alguma operação de banco de dados.</a:t>
            </a:r>
          </a:p>
          <a:p>
            <a:pPr marL="342900" indent="-342900" algn="l" fontAlgn="base">
              <a:buAutoNum type="arabicPeriod"/>
            </a:pPr>
            <a:endParaRPr lang="pt-BR" b="0" i="0" dirty="0">
              <a:solidFill>
                <a:srgbClr val="000000"/>
              </a:solidFill>
              <a:effectLst/>
              <a:latin typeface="Source Serif Pro" panose="02040603050405020204" pitchFamily="18" charset="0"/>
              <a:ea typeface="Source Serif Pro" panose="02040603050405020204" pitchFamily="18" charset="0"/>
            </a:endParaRPr>
          </a:p>
        </p:txBody>
      </p:sp>
    </p:spTree>
    <p:extLst>
      <p:ext uri="{BB962C8B-B14F-4D97-AF65-F5344CB8AC3E}">
        <p14:creationId xmlns:p14="http://schemas.microsoft.com/office/powerpoint/2010/main" val="9668221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6" name="Google Shape;646;p55"/>
          <p:cNvSpPr txBox="1">
            <a:spLocks noGrp="1"/>
          </p:cNvSpPr>
          <p:nvPr>
            <p:ph type="ctrTitle"/>
          </p:nvPr>
        </p:nvSpPr>
        <p:spPr>
          <a:xfrm>
            <a:off x="2106771" y="1852628"/>
            <a:ext cx="6135000" cy="1156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r>
              <a:rPr lang="es" sz="6400" dirty="0">
                <a:solidFill>
                  <a:srgbClr val="252525"/>
                </a:solidFill>
              </a:rPr>
              <a:t>Obrigado!!</a:t>
            </a:r>
            <a:endParaRPr sz="6400" dirty="0">
              <a:solidFill>
                <a:srgbClr val="174584"/>
              </a:solidFill>
            </a:endParaRPr>
          </a:p>
        </p:txBody>
      </p:sp>
      <p:pic>
        <p:nvPicPr>
          <p:cNvPr id="17" name="Gráfico 16">
            <a:extLst>
              <a:ext uri="{FF2B5EF4-FFF2-40B4-BE49-F238E27FC236}">
                <a16:creationId xmlns:a16="http://schemas.microsoft.com/office/drawing/2014/main" id="{7D24FA3C-6D44-DB4A-A9E2-8075D98883B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36160" y="3780429"/>
            <a:ext cx="1571756" cy="509249"/>
          </a:xfrm>
          <a:prstGeom prst="rect">
            <a:avLst/>
          </a:prstGeom>
        </p:spPr>
      </p:pic>
    </p:spTree>
    <p:extLst>
      <p:ext uri="{BB962C8B-B14F-4D97-AF65-F5344CB8AC3E}">
        <p14:creationId xmlns:p14="http://schemas.microsoft.com/office/powerpoint/2010/main" val="42689490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pic>
        <p:nvPicPr>
          <p:cNvPr id="17" name="Gráfico 16">
            <a:extLst>
              <a:ext uri="{FF2B5EF4-FFF2-40B4-BE49-F238E27FC236}">
                <a16:creationId xmlns:a16="http://schemas.microsoft.com/office/drawing/2014/main" id="{7D24FA3C-6D44-DB4A-A9E2-8075D98883B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36160" y="3780429"/>
            <a:ext cx="1571756" cy="509249"/>
          </a:xfrm>
          <a:prstGeom prst="rect">
            <a:avLst/>
          </a:prstGeom>
        </p:spPr>
      </p:pic>
      <p:sp>
        <p:nvSpPr>
          <p:cNvPr id="5" name="CaixaDeTexto 4">
            <a:extLst>
              <a:ext uri="{FF2B5EF4-FFF2-40B4-BE49-F238E27FC236}">
                <a16:creationId xmlns:a16="http://schemas.microsoft.com/office/drawing/2014/main" id="{C50570E5-4588-F9C8-7453-74DC55328EC9}"/>
              </a:ext>
            </a:extLst>
          </p:cNvPr>
          <p:cNvSpPr txBox="1"/>
          <p:nvPr/>
        </p:nvSpPr>
        <p:spPr>
          <a:xfrm>
            <a:off x="1558485" y="853822"/>
            <a:ext cx="4572000" cy="3108543"/>
          </a:xfrm>
          <a:prstGeom prst="rect">
            <a:avLst/>
          </a:prstGeom>
          <a:noFill/>
        </p:spPr>
        <p:txBody>
          <a:bodyPr wrap="square">
            <a:spAutoFit/>
          </a:bodyPr>
          <a:lstStyle/>
          <a:p>
            <a:r>
              <a:rPr lang="pt-BR" dirty="0">
                <a:hlinkClick r:id="rId5"/>
              </a:rPr>
              <a:t>https://www.objective.com.br/insights/testes-de-software/</a:t>
            </a:r>
            <a:endParaRPr lang="pt-BR" dirty="0"/>
          </a:p>
          <a:p>
            <a:endParaRPr lang="pt-BR" dirty="0"/>
          </a:p>
          <a:p>
            <a:r>
              <a:rPr lang="pt-BR" dirty="0">
                <a:hlinkClick r:id="rId6"/>
              </a:rPr>
              <a:t>https://www.devmedia.com.br/guia/tecnicas-e-fundamentos-de-testes-de-software/34403</a:t>
            </a:r>
            <a:endParaRPr lang="pt-BR" dirty="0"/>
          </a:p>
          <a:p>
            <a:endParaRPr lang="pt-BR" dirty="0"/>
          </a:p>
          <a:p>
            <a:r>
              <a:rPr lang="pt-BR" dirty="0">
                <a:hlinkClick r:id="rId7"/>
              </a:rPr>
              <a:t>https://cwi.com.br/blog/o-que-e-teste-de-software-por-que-e-necessario/</a:t>
            </a:r>
            <a:endParaRPr lang="pt-BR" dirty="0"/>
          </a:p>
          <a:p>
            <a:endParaRPr lang="pt-BR" dirty="0"/>
          </a:p>
          <a:p>
            <a:r>
              <a:rPr lang="pt-BR" dirty="0">
                <a:hlinkClick r:id="rId8"/>
              </a:rPr>
              <a:t>https://www.devmedia.com.br/plano-de-teste-um-mapa-essencial-para-teste-de-software/13824</a:t>
            </a:r>
            <a:endParaRPr lang="pt-BR" dirty="0"/>
          </a:p>
          <a:p>
            <a:endParaRPr lang="pt-BR" dirty="0"/>
          </a:p>
          <a:p>
            <a:r>
              <a:rPr lang="pt-BR" dirty="0">
                <a:hlinkClick r:id="rId9"/>
              </a:rPr>
              <a:t>https://www.devmedia.com.br/e-ai-como-voce-testa-seus-codigos/39478</a:t>
            </a:r>
            <a:endParaRPr lang="pt-BR" dirty="0"/>
          </a:p>
        </p:txBody>
      </p:sp>
    </p:spTree>
    <p:extLst>
      <p:ext uri="{BB962C8B-B14F-4D97-AF65-F5344CB8AC3E}">
        <p14:creationId xmlns:p14="http://schemas.microsoft.com/office/powerpoint/2010/main" val="36650123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pic>
        <p:nvPicPr>
          <p:cNvPr id="17" name="Gráfico 16">
            <a:extLst>
              <a:ext uri="{FF2B5EF4-FFF2-40B4-BE49-F238E27FC236}">
                <a16:creationId xmlns:a16="http://schemas.microsoft.com/office/drawing/2014/main" id="{7D24FA3C-6D44-DB4A-A9E2-8075D98883B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436160" y="3780429"/>
            <a:ext cx="1571756" cy="509249"/>
          </a:xfrm>
          <a:prstGeom prst="rect">
            <a:avLst/>
          </a:prstGeom>
        </p:spPr>
      </p:pic>
      <p:sp>
        <p:nvSpPr>
          <p:cNvPr id="5" name="CaixaDeTexto 4">
            <a:extLst>
              <a:ext uri="{FF2B5EF4-FFF2-40B4-BE49-F238E27FC236}">
                <a16:creationId xmlns:a16="http://schemas.microsoft.com/office/drawing/2014/main" id="{C50570E5-4588-F9C8-7453-74DC55328EC9}"/>
              </a:ext>
            </a:extLst>
          </p:cNvPr>
          <p:cNvSpPr txBox="1"/>
          <p:nvPr/>
        </p:nvSpPr>
        <p:spPr>
          <a:xfrm>
            <a:off x="1558485" y="853822"/>
            <a:ext cx="4572000" cy="2246769"/>
          </a:xfrm>
          <a:prstGeom prst="rect">
            <a:avLst/>
          </a:prstGeom>
          <a:noFill/>
        </p:spPr>
        <p:txBody>
          <a:bodyPr wrap="square">
            <a:spAutoFit/>
          </a:bodyPr>
          <a:lstStyle/>
          <a:p>
            <a:r>
              <a:rPr lang="pt-BR" dirty="0">
                <a:hlinkClick r:id="rId5"/>
              </a:rPr>
              <a:t>https://coodesh.com/blog/dicionario/o-que-sao-testes-unitarios/</a:t>
            </a:r>
            <a:endParaRPr lang="pt-BR" dirty="0"/>
          </a:p>
          <a:p>
            <a:endParaRPr lang="pt-BR" dirty="0"/>
          </a:p>
          <a:p>
            <a:r>
              <a:rPr lang="pt-BR" dirty="0">
                <a:hlinkClick r:id="rId6"/>
              </a:rPr>
              <a:t>https://dayvsonlima.medium.com/entenda-de-uma-vez-por-todas-o-que-s%C3%A3o-testes-unit%C3%A1rios-para-que-servem-e-como-faz%C3%AA-los-2a6f645bab3</a:t>
            </a:r>
            <a:endParaRPr lang="pt-BR" dirty="0"/>
          </a:p>
          <a:p>
            <a:endParaRPr lang="pt-BR" dirty="0"/>
          </a:p>
          <a:p>
            <a:r>
              <a:rPr lang="pt-BR" dirty="0"/>
              <a:t>https://www.devmedia.com.br/teste-unitario-com-pyunit/41233</a:t>
            </a:r>
          </a:p>
        </p:txBody>
      </p:sp>
    </p:spTree>
    <p:extLst>
      <p:ext uri="{BB962C8B-B14F-4D97-AF65-F5344CB8AC3E}">
        <p14:creationId xmlns:p14="http://schemas.microsoft.com/office/powerpoint/2010/main" val="491171273"/>
      </p:ext>
    </p:extLst>
  </p:cSld>
  <p:clrMapOvr>
    <a:masterClrMapping/>
  </p:clrMapOvr>
</p:sld>
</file>

<file path=ppt/theme/theme1.xml><?xml version="1.0" encoding="utf-8"?>
<a:theme xmlns:a="http://schemas.openxmlformats.org/drawingml/2006/main" name="Elegant Blue">
  <a:themeElements>
    <a:clrScheme name="Azul">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682</TotalTime>
  <Words>2833</Words>
  <Application>Microsoft Office PowerPoint</Application>
  <PresentationFormat>Apresentação na tela (16:9)</PresentationFormat>
  <Paragraphs>186</Paragraphs>
  <Slides>33</Slides>
  <Notes>33</Notes>
  <HiddenSlides>0</HiddenSlides>
  <MMClips>0</MMClips>
  <ScaleCrop>false</ScaleCrop>
  <HeadingPairs>
    <vt:vector size="6" baseType="variant">
      <vt:variant>
        <vt:lpstr>Fontes usadas</vt:lpstr>
      </vt:variant>
      <vt:variant>
        <vt:i4>9</vt:i4>
      </vt:variant>
      <vt:variant>
        <vt:lpstr>Tema</vt:lpstr>
      </vt:variant>
      <vt:variant>
        <vt:i4>1</vt:i4>
      </vt:variant>
      <vt:variant>
        <vt:lpstr>Títulos de slides</vt:lpstr>
      </vt:variant>
      <vt:variant>
        <vt:i4>33</vt:i4>
      </vt:variant>
    </vt:vector>
  </HeadingPairs>
  <TitlesOfParts>
    <vt:vector size="43" baseType="lpstr">
      <vt:lpstr>Roboto</vt:lpstr>
      <vt:lpstr>Montserrat</vt:lpstr>
      <vt:lpstr>Times New Roman</vt:lpstr>
      <vt:lpstr>Source Serif Pro</vt:lpstr>
      <vt:lpstr>Montserrat ExtraBold</vt:lpstr>
      <vt:lpstr>inherit</vt:lpstr>
      <vt:lpstr>Spectral Light</vt:lpstr>
      <vt:lpstr>Arial</vt:lpstr>
      <vt:lpstr>source-serif-pro</vt:lpstr>
      <vt:lpstr>Elegant Blue</vt:lpstr>
      <vt:lpstr>Teste de Software  Instrutor: Tarik Ponciano</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Obrigado!!</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Doraneide Albuquerque Fernandes</dc:creator>
  <cp:lastModifiedBy>Tarik Ponciano</cp:lastModifiedBy>
  <cp:revision>33</cp:revision>
  <dcterms:modified xsi:type="dcterms:W3CDTF">2023-03-20T09:11:36Z</dcterms:modified>
</cp:coreProperties>
</file>